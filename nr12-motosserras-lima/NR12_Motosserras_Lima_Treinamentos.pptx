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25aa70d1-0239-89e6-93d0-5934dd211bea}">
          <p14:sldIdLst>
            <p14:sldId id="256"/>
            <p14:sldId id="257"/>
            <p14:sldId id="258"/>
            <p14:sldId id="259"/>
          </p14:sldIdLst>
        </p14:section>
        <p14:section name="Conteúdo programático" id="{77ac1acc-20ec-6501-2909-f479ff762b8c}">
          <p14:sldIdLst>
            <p14:sldId id="260"/>
            <p14:sldId id="261"/>
          </p14:sldIdLst>
        </p14:section>
        <p14:section name="A história" id="{9185019f-e611-f69d-b6ba-76cd20b81d7f}">
          <p14:sldIdLst>
            <p14:sldId id="262"/>
            <p14:sldId id="263"/>
            <p14:sldId id="264"/>
          </p14:sldIdLst>
        </p14:section>
        <p14:section name="Doenças ocupacionais" id="{89b55ac9-8c2c-578c-7a9a-76811a1e264e}">
          <p14:sldIdLst>
            <p14:sldId id="265"/>
            <p14:sldId id="266"/>
            <p14:sldId id="267"/>
          </p14:sldIdLst>
        </p14:section>
        <p14:section name="Dispositivos de segurança" id="{a1eef708-4706-29e6-a390-0d7e03e03db6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Instruções de segurança" id="{98613201-7194-02ef-33fb-4fb08aec546d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  <p14:section name="Identificação" id="{34144dff-891b-44fe-1ae4-2df4be4a77f6}">
          <p14:sldIdLst>
            <p14:sldId id="310"/>
            <p14:sldId id="311"/>
            <p14:sldId id="312"/>
            <p14:sldId id="313"/>
            <p14:sldId id="314"/>
          </p14:sldIdLst>
        </p14:section>
        <p14:section name="Orientações de operação" id="{bd50117f-d4a1-36ac-7894-1602498b845f}">
          <p14:sldIdLst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Ferramentas elétricas portáteis" id="{e0c40d8a-0cbe-5350-c5e6-4dadd90a6e36}">
          <p14:sldIdLst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Encerramento" id="{497b0f8f-44e9-4c13-a5d3-eb66f7f049de}">
          <p14:sldIdLst>
            <p14:sldId id="33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Lima Treinam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64592"/>
            <a:ext cx="566928" cy="58627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Lima Treinamentos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 txBox="1"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Lima Treinamentos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image" Target="../media/image-3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jpg"/><Relationship Id="rId2" Type="http://schemas.openxmlformats.org/officeDocument/2006/relationships/image" Target="../media/image-37-2.jpg"/><Relationship Id="rId3" Type="http://schemas.openxmlformats.org/officeDocument/2006/relationships/image" Target="../media/image-3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image" Target="../media/image-3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image" Target="../media/image-4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image" Target="../media/image-5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image" Target="../media/image-5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g"/><Relationship Id="rId2" Type="http://schemas.openxmlformats.org/officeDocument/2006/relationships/image" Target="../media/image-5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-1"/>
          <p:cNvSpPr/>
          <p:nvPr/>
        </p:nvSpPr>
        <p:spPr>
          <a:xfrm>
            <a:off x="502920" y="685800"/>
            <a:ext cx="3749040" cy="374904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  <a:prstDash val="solid"/>
          </a:ln>
        </p:spPr>
      </p:sp>
      <p:pic>
        <p:nvPicPr>
          <p:cNvPr id="3" name="imagem-2" descr="Logo Lima Treinam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012" y="914400"/>
            <a:ext cx="3184855" cy="3291840"/>
          </a:xfrm>
          <a:prstGeom prst="rect">
            <a:avLst/>
          </a:prstGeom>
        </p:spPr>
      </p:pic>
      <p:sp>
        <p:nvSpPr>
          <p:cNvPr id="4" name="empresa"/>
          <p:cNvSpPr txBox="1"/>
          <p:nvPr/>
        </p:nvSpPr>
        <p:spPr>
          <a:xfrm>
            <a:off x="4572000" y="822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LIMA TREINAMENTOS</a:t>
            </a:r>
            <a:endParaRPr lang="en-US" sz="2800" dirty="0"/>
          </a:p>
        </p:txBody>
      </p:sp>
      <p:sp>
        <p:nvSpPr>
          <p:cNvPr id="5" name="slogan"/>
          <p:cNvSpPr txBox="1"/>
          <p:nvPr/>
        </p:nvSpPr>
        <p:spPr>
          <a:xfrm>
            <a:off x="457200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Treinamentos em segurança do trabalho, prevenção e emergência</a:t>
            </a:r>
            <a:endParaRPr lang="en-US" sz="1400" dirty="0"/>
          </a:p>
        </p:txBody>
      </p:sp>
      <p:sp>
        <p:nvSpPr>
          <p:cNvPr id="6" name="dados-empresa"/>
          <p:cNvSpPr txBox="1"/>
          <p:nvPr/>
        </p:nvSpPr>
        <p:spPr>
          <a:xfrm>
            <a:off x="4572000" y="233172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CNPJ: [preencher]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Endereço: [preencher]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Cidade/UF: [preencher]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Contatos: [preencher]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Site: [preencher]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E-mail: [preencher]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-curso"/>
          <p:cNvSpPr txBox="1"/>
          <p:nvPr/>
        </p:nvSpPr>
        <p:spPr>
          <a:xfrm>
            <a:off x="548640" y="822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NR-12 – ANEXO V</a:t>
            </a:r>
            <a:endParaRPr lang="en-US" sz="3600" dirty="0"/>
          </a:p>
        </p:txBody>
      </p:sp>
      <p:sp>
        <p:nvSpPr>
          <p:cNvPr id="3" name="subtitulo-curso"/>
          <p:cNvSpPr txBox="1"/>
          <p:nvPr/>
        </p:nvSpPr>
        <p:spPr>
          <a:xfrm>
            <a:off x="548640" y="16002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Operações com motosserras e similares</a:t>
            </a:r>
            <a:endParaRPr lang="en-US" sz="2600" dirty="0"/>
          </a:p>
        </p:txBody>
      </p:sp>
      <p:sp>
        <p:nvSpPr>
          <p:cNvPr id="4" name="modulo"/>
          <p:cNvSpPr txBox="1"/>
          <p:nvPr/>
        </p:nvSpPr>
        <p:spPr>
          <a:xfrm>
            <a:off x="548640" y="27889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Módulo complementar: lixadeira, serra circular, esmerilhadeira, furadeira, serra mármore, retificadora e serra tico-tico</a:t>
            </a:r>
            <a:endParaRPr lang="en-US" sz="1400" dirty="0"/>
          </a:p>
        </p:txBody>
      </p:sp>
      <p:sp>
        <p:nvSpPr>
          <p:cNvPr id="5" name="circulo-4"/>
          <p:cNvSpPr/>
          <p:nvPr/>
        </p:nvSpPr>
        <p:spPr>
          <a:xfrm>
            <a:off x="5760720" y="868680"/>
            <a:ext cx="2926080" cy="292608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  <a:prstDash val="solid"/>
          </a:ln>
        </p:spPr>
      </p:sp>
      <p:pic>
        <p:nvPicPr>
          <p:cNvPr id="6" name="imagem-5" descr="Motosser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459897"/>
            <a:ext cx="2468880" cy="1743647"/>
          </a:xfrm>
          <a:prstGeom prst="rect">
            <a:avLst/>
          </a:prstGeom>
        </p:spPr>
      </p:pic>
      <p:pic>
        <p:nvPicPr>
          <p:cNvPr id="7" name="imagem-6" descr="Logo Lima Treinamen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86862"/>
            <a:ext cx="777240" cy="803349"/>
          </a:xfrm>
          <a:prstGeom prst="rect">
            <a:avLst/>
          </a:prstGeom>
        </p:spPr>
      </p:pic>
      <p:sp>
        <p:nvSpPr>
          <p:cNvPr id="8" name="rodape-capa"/>
          <p:cNvSpPr txBox="1"/>
          <p:nvPr/>
        </p:nvSpPr>
        <p:spPr>
          <a:xfrm>
            <a:off x="1463040" y="4069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Lima Treinamentos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1097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APRENDER?!</a:t>
            </a:r>
            <a:endParaRPr lang="en-US" sz="3600" dirty="0"/>
          </a:p>
        </p:txBody>
      </p:sp>
      <p:sp>
        <p:nvSpPr>
          <p:cNvPr id="3" name="texto-7"/>
          <p:cNvSpPr txBox="1"/>
          <p:nvPr/>
        </p:nvSpPr>
        <p:spPr>
          <a:xfrm>
            <a:off x="548640" y="210312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Aluno?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“A” = sem  ·  “Luno” = luz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Ninguém aqui é “ser sem luz”: cada participante traz experiência, e o aprendizado acontece na troca.</a:t>
            </a:r>
            <a:endParaRPr lang="en-US" sz="2000" dirty="0"/>
          </a:p>
        </p:txBody>
      </p:sp>
      <p:sp>
        <p:nvSpPr>
          <p:cNvPr id="4" name="circulo-8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cone-lampada" descr="Lâmp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COMO APRENDEMOS</a:t>
            </a:r>
            <a:endParaRPr lang="en-US" sz="2400" dirty="0"/>
          </a:p>
        </p:txBody>
      </p:sp>
      <p:pic>
        <p:nvPicPr>
          <p:cNvPr id="3" name="imagem-9" descr="Pirâmide de aprendizagem de William Glas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152" y="960120"/>
            <a:ext cx="6593696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CONTEÚDO PROGRAMÁTICO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O que vamos estudar</a:t>
            </a:r>
            <a:endParaRPr lang="en-US" sz="1600" dirty="0"/>
          </a:p>
        </p:txBody>
      </p:sp>
      <p:sp>
        <p:nvSpPr>
          <p:cNvPr id="4" name="circulo-10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1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11046"/>
            <a:ext cx="2194560" cy="1549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CONTEÚDO PROGRAMÁTICO</a:t>
            </a:r>
            <a:endParaRPr lang="en-US" sz="2400" dirty="0"/>
          </a:p>
        </p:txBody>
      </p:sp>
      <p:sp>
        <p:nvSpPr>
          <p:cNvPr id="3" name="selo-1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3"/>
          <p:cNvSpPr txBox="1"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item-14"/>
          <p:cNvSpPr txBox="1"/>
          <p:nvPr/>
        </p:nvSpPr>
        <p:spPr>
          <a:xfrm>
            <a:off x="1188720" y="1097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NR-12 – Anexo V</a:t>
            </a:r>
            <a:endParaRPr lang="en-US" sz="1600" dirty="0"/>
          </a:p>
        </p:txBody>
      </p:sp>
      <p:sp>
        <p:nvSpPr>
          <p:cNvPr id="6" name="selo-15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numero-16"/>
          <p:cNvSpPr txBox="1"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item-17"/>
          <p:cNvSpPr txBox="1"/>
          <p:nvPr/>
        </p:nvSpPr>
        <p:spPr>
          <a:xfrm>
            <a:off x="118872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Instruções de segurança</a:t>
            </a:r>
            <a:endParaRPr lang="en-US" sz="1600" dirty="0"/>
          </a:p>
        </p:txBody>
      </p:sp>
      <p:sp>
        <p:nvSpPr>
          <p:cNvPr id="9" name="selo-18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numero-19"/>
          <p:cNvSpPr txBox="1"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item-20"/>
          <p:cNvSpPr txBox="1"/>
          <p:nvPr/>
        </p:nvSpPr>
        <p:spPr>
          <a:xfrm>
            <a:off x="118872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Manuseio, cuidados e limpeza</a:t>
            </a:r>
            <a:endParaRPr lang="en-US" sz="1600" dirty="0"/>
          </a:p>
        </p:txBody>
      </p:sp>
      <p:sp>
        <p:nvSpPr>
          <p:cNvPr id="12" name="selo-21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numero-22"/>
          <p:cNvSpPr txBox="1"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item-23"/>
          <p:cNvSpPr txBox="1"/>
          <p:nvPr/>
        </p:nvSpPr>
        <p:spPr>
          <a:xfrm>
            <a:off x="118872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Inspeção diária</a:t>
            </a:r>
            <a:endParaRPr lang="en-US" sz="1600" dirty="0"/>
          </a:p>
        </p:txBody>
      </p:sp>
      <p:sp>
        <p:nvSpPr>
          <p:cNvPr id="15" name="selo-24"/>
          <p:cNvSpPr/>
          <p:nvPr/>
        </p:nvSpPr>
        <p:spPr>
          <a:xfrm>
            <a:off x="4663440" y="10972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numero-25"/>
          <p:cNvSpPr txBox="1"/>
          <p:nvPr/>
        </p:nvSpPr>
        <p:spPr>
          <a:xfrm>
            <a:off x="46634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item-26"/>
          <p:cNvSpPr txBox="1"/>
          <p:nvPr/>
        </p:nvSpPr>
        <p:spPr>
          <a:xfrm>
            <a:off x="5394960" y="1097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Padrão operacional</a:t>
            </a:r>
            <a:endParaRPr lang="en-US" sz="1600" dirty="0"/>
          </a:p>
        </p:txBody>
      </p:sp>
      <p:sp>
        <p:nvSpPr>
          <p:cNvPr id="18" name="selo-27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numero-28"/>
          <p:cNvSpPr txBox="1"/>
          <p:nvPr/>
        </p:nvSpPr>
        <p:spPr>
          <a:xfrm>
            <a:off x="4663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item-29"/>
          <p:cNvSpPr txBox="1"/>
          <p:nvPr/>
        </p:nvSpPr>
        <p:spPr>
          <a:xfrm>
            <a:off x="5394960" y="1965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Ferramentas elétricas portáteis</a:t>
            </a:r>
            <a:endParaRPr lang="en-US" sz="1600" dirty="0"/>
          </a:p>
        </p:txBody>
      </p:sp>
      <p:sp>
        <p:nvSpPr>
          <p:cNvPr id="21" name="selo-30"/>
          <p:cNvSpPr/>
          <p:nvPr/>
        </p:nvSpPr>
        <p:spPr>
          <a:xfrm>
            <a:off x="4663440" y="28346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numero-31"/>
          <p:cNvSpPr txBox="1"/>
          <p:nvPr/>
        </p:nvSpPr>
        <p:spPr>
          <a:xfrm>
            <a:off x="46634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item-32"/>
          <p:cNvSpPr txBox="1"/>
          <p:nvPr/>
        </p:nvSpPr>
        <p:spPr>
          <a:xfrm>
            <a:off x="5394960" y="2834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Avaliação teórica</a:t>
            </a:r>
            <a:endParaRPr lang="en-US" sz="1600" dirty="0"/>
          </a:p>
        </p:txBody>
      </p:sp>
      <p:sp>
        <p:nvSpPr>
          <p:cNvPr id="24" name="selo-33"/>
          <p:cNvSpPr/>
          <p:nvPr/>
        </p:nvSpPr>
        <p:spPr>
          <a:xfrm>
            <a:off x="4663440" y="3703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numero-34"/>
          <p:cNvSpPr txBox="1"/>
          <p:nvPr/>
        </p:nvSpPr>
        <p:spPr>
          <a:xfrm>
            <a:off x="46634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item-35"/>
          <p:cNvSpPr txBox="1"/>
          <p:nvPr/>
        </p:nvSpPr>
        <p:spPr>
          <a:xfrm>
            <a:off x="5394960" y="3703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Avaliação prática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HISTÓRIA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Da serra manual à motosserra moderna</a:t>
            </a:r>
            <a:endParaRPr lang="en-US" sz="1600" dirty="0"/>
          </a:p>
        </p:txBody>
      </p:sp>
      <p:sp>
        <p:nvSpPr>
          <p:cNvPr id="4" name="circulo-36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3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3870" y="1188720"/>
            <a:ext cx="1722661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HISTÓRIA</a:t>
            </a:r>
            <a:endParaRPr lang="en-US" sz="2400" dirty="0"/>
          </a:p>
        </p:txBody>
      </p:sp>
      <p:sp>
        <p:nvSpPr>
          <p:cNvPr id="3" name="texto-38"/>
          <p:cNvSpPr txBox="1"/>
          <p:nvPr/>
        </p:nvSpPr>
        <p:spPr>
          <a:xfrm>
            <a:off x="457200" y="100584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 volta de 5.000 a.C., tribos germânicas inventaram a primeira serra.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Perto de 1.500, Leonardo da Vinci esboçou o primeiro dente que corta tanto puxando quanto empurrando.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Por volta de 1.800, o machado deixou de ser a ferramenta mais utilizada na floresta, e as serras começaram a desempenhar algumas funções.</a:t>
            </a:r>
            <a:endParaRPr lang="en-US" sz="16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serra trouxe não só maior rendimento em madeira, mas também muitas outras vantagens para os proprietários da floresta.</a:t>
            </a:r>
            <a:endParaRPr lang="en-US" sz="1600" dirty="0"/>
          </a:p>
        </p:txBody>
      </p:sp>
      <p:pic>
        <p:nvPicPr>
          <p:cNvPr id="4" name="imagem-39" descr="Leonardo da Vin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378" y="1005840"/>
            <a:ext cx="2799324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HISTÓRIA DA MOTOSSERRA</a:t>
            </a:r>
            <a:endParaRPr lang="en-US" sz="2400" dirty="0"/>
          </a:p>
        </p:txBody>
      </p:sp>
      <p:sp>
        <p:nvSpPr>
          <p:cNvPr id="3" name="ano-40"/>
          <p:cNvSpPr/>
          <p:nvPr/>
        </p:nvSpPr>
        <p:spPr>
          <a:xfrm>
            <a:off x="457200" y="987552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ano-txt-41"/>
          <p:cNvSpPr txBox="1"/>
          <p:nvPr/>
        </p:nvSpPr>
        <p:spPr>
          <a:xfrm>
            <a:off x="457200" y="98755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1926</a:t>
            </a:r>
            <a:endParaRPr lang="en-US" sz="1400" dirty="0"/>
          </a:p>
        </p:txBody>
      </p:sp>
      <p:sp>
        <p:nvSpPr>
          <p:cNvPr id="5" name="evento-42"/>
          <p:cNvSpPr txBox="1"/>
          <p:nvPr/>
        </p:nvSpPr>
        <p:spPr>
          <a:xfrm>
            <a:off x="1691640" y="9875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Stihl desenvolveu a primeira motosserra elétrica</a:t>
            </a:r>
            <a:endParaRPr lang="en-US" sz="1400" dirty="0"/>
          </a:p>
        </p:txBody>
      </p:sp>
      <p:sp>
        <p:nvSpPr>
          <p:cNvPr id="6" name="ano-43"/>
          <p:cNvSpPr/>
          <p:nvPr/>
        </p:nvSpPr>
        <p:spPr>
          <a:xfrm>
            <a:off x="457200" y="1499616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ano-txt-44"/>
          <p:cNvSpPr txBox="1"/>
          <p:nvPr/>
        </p:nvSpPr>
        <p:spPr>
          <a:xfrm>
            <a:off x="457200" y="14996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1927</a:t>
            </a:r>
            <a:endParaRPr lang="en-US" sz="1400" dirty="0"/>
          </a:p>
        </p:txBody>
      </p:sp>
      <p:sp>
        <p:nvSpPr>
          <p:cNvPr id="8" name="evento-45"/>
          <p:cNvSpPr txBox="1"/>
          <p:nvPr/>
        </p:nvSpPr>
        <p:spPr>
          <a:xfrm>
            <a:off x="1691640" y="14996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Dolmar desenvolveu a primeira motosserra a gasolina</a:t>
            </a:r>
            <a:endParaRPr lang="en-US" sz="1400" dirty="0"/>
          </a:p>
        </p:txBody>
      </p:sp>
      <p:sp>
        <p:nvSpPr>
          <p:cNvPr id="9" name="ano-46"/>
          <p:cNvSpPr/>
          <p:nvPr/>
        </p:nvSpPr>
        <p:spPr>
          <a:xfrm>
            <a:off x="457200" y="2011680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ano-txt-47"/>
          <p:cNvSpPr txBox="1"/>
          <p:nvPr/>
        </p:nvSpPr>
        <p:spPr>
          <a:xfrm>
            <a:off x="457200" y="201168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1950</a:t>
            </a:r>
            <a:endParaRPr lang="en-US" sz="1400" dirty="0"/>
          </a:p>
        </p:txBody>
      </p:sp>
      <p:sp>
        <p:nvSpPr>
          <p:cNvPr id="11" name="evento-48"/>
          <p:cNvSpPr txBox="1"/>
          <p:nvPr/>
        </p:nvSpPr>
        <p:spPr>
          <a:xfrm>
            <a:off x="1691640" y="2011680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Surgiu a primeira motosserra para trabalho individual</a:t>
            </a:r>
            <a:endParaRPr lang="en-US" sz="1400" dirty="0"/>
          </a:p>
        </p:txBody>
      </p:sp>
      <p:sp>
        <p:nvSpPr>
          <p:cNvPr id="12" name="ano-49"/>
          <p:cNvSpPr/>
          <p:nvPr/>
        </p:nvSpPr>
        <p:spPr>
          <a:xfrm>
            <a:off x="457200" y="2523744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ano-txt-50"/>
          <p:cNvSpPr txBox="1"/>
          <p:nvPr/>
        </p:nvSpPr>
        <p:spPr>
          <a:xfrm>
            <a:off x="457200" y="252374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Anos 60</a:t>
            </a:r>
            <a:endParaRPr lang="en-US" sz="1400" dirty="0"/>
          </a:p>
        </p:txBody>
      </p:sp>
      <p:sp>
        <p:nvSpPr>
          <p:cNvPr id="14" name="evento-51"/>
          <p:cNvSpPr txBox="1"/>
          <p:nvPr/>
        </p:nvSpPr>
        <p:spPr>
          <a:xfrm>
            <a:off x="1691640" y="252374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Introdução da motosserra no Brasil</a:t>
            </a:r>
            <a:endParaRPr lang="en-US" sz="1400" dirty="0"/>
          </a:p>
        </p:txBody>
      </p:sp>
      <p:sp>
        <p:nvSpPr>
          <p:cNvPr id="15" name="ano-52"/>
          <p:cNvSpPr/>
          <p:nvPr/>
        </p:nvSpPr>
        <p:spPr>
          <a:xfrm>
            <a:off x="457200" y="3035808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ano-txt-53"/>
          <p:cNvSpPr txBox="1"/>
          <p:nvPr/>
        </p:nvSpPr>
        <p:spPr>
          <a:xfrm>
            <a:off x="457200" y="303580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1964</a:t>
            </a:r>
            <a:endParaRPr lang="en-US" sz="1400" dirty="0"/>
          </a:p>
        </p:txBody>
      </p:sp>
      <p:sp>
        <p:nvSpPr>
          <p:cNvPr id="17" name="evento-54"/>
          <p:cNvSpPr txBox="1"/>
          <p:nvPr/>
        </p:nvSpPr>
        <p:spPr>
          <a:xfrm>
            <a:off x="1691640" y="3035808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Implementado o sistema antivibração</a:t>
            </a:r>
            <a:endParaRPr lang="en-US" sz="1400" dirty="0"/>
          </a:p>
        </p:txBody>
      </p:sp>
      <p:sp>
        <p:nvSpPr>
          <p:cNvPr id="18" name="ano-55"/>
          <p:cNvSpPr/>
          <p:nvPr/>
        </p:nvSpPr>
        <p:spPr>
          <a:xfrm>
            <a:off x="457200" y="3547872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ano-txt-56"/>
          <p:cNvSpPr txBox="1"/>
          <p:nvPr/>
        </p:nvSpPr>
        <p:spPr>
          <a:xfrm>
            <a:off x="457200" y="35478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1982</a:t>
            </a:r>
            <a:endParaRPr lang="en-US" sz="1400" dirty="0"/>
          </a:p>
        </p:txBody>
      </p:sp>
      <p:sp>
        <p:nvSpPr>
          <p:cNvPr id="20" name="evento-57"/>
          <p:cNvSpPr txBox="1"/>
          <p:nvPr/>
        </p:nvSpPr>
        <p:spPr>
          <a:xfrm>
            <a:off x="1691640" y="354787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freio de corrente passou a equipar as motosserras</a:t>
            </a:r>
            <a:endParaRPr lang="en-US" sz="1400" dirty="0"/>
          </a:p>
        </p:txBody>
      </p:sp>
      <p:sp>
        <p:nvSpPr>
          <p:cNvPr id="21" name="ano-58"/>
          <p:cNvSpPr/>
          <p:nvPr/>
        </p:nvSpPr>
        <p:spPr>
          <a:xfrm>
            <a:off x="457200" y="4059936"/>
            <a:ext cx="1051560" cy="402336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ano-txt-59"/>
          <p:cNvSpPr txBox="1"/>
          <p:nvPr/>
        </p:nvSpPr>
        <p:spPr>
          <a:xfrm>
            <a:off x="457200" y="40599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1982</a:t>
            </a:r>
            <a:endParaRPr lang="en-US" sz="1400" dirty="0"/>
          </a:p>
        </p:txBody>
      </p:sp>
      <p:sp>
        <p:nvSpPr>
          <p:cNvPr id="23" name="evento-60"/>
          <p:cNvSpPr txBox="1"/>
          <p:nvPr/>
        </p:nvSpPr>
        <p:spPr>
          <a:xfrm>
            <a:off x="1691640" y="405993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Freio automático de corrente</a:t>
            </a:r>
            <a:endParaRPr lang="en-US" sz="1400" dirty="0"/>
          </a:p>
        </p:txBody>
      </p:sp>
      <p:pic>
        <p:nvPicPr>
          <p:cNvPr id="24" name="imagem-61" descr="Ilustração de motosser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567958"/>
            <a:ext cx="2560320" cy="24419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DOENÇAS OCUPACIONAIS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Efeitos da vibração e do esforço repetitivo</a:t>
            </a:r>
            <a:endParaRPr lang="en-US" sz="1600" dirty="0"/>
          </a:p>
        </p:txBody>
      </p:sp>
      <p:sp>
        <p:nvSpPr>
          <p:cNvPr id="4" name="circulo-62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6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46472"/>
            <a:ext cx="2194560" cy="20790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DOENÇAS OCUPACIONAIS</a:t>
            </a:r>
            <a:endParaRPr lang="en-US" sz="2400" dirty="0"/>
          </a:p>
        </p:txBody>
      </p:sp>
      <p:sp>
        <p:nvSpPr>
          <p:cNvPr id="3" name="texto-64"/>
          <p:cNvSpPr txBox="1"/>
          <p:nvPr/>
        </p:nvSpPr>
        <p:spPr>
          <a:xfrm>
            <a:off x="457200" y="1005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Síndrome do túnel do carpo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 que é?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Ocorre pela compressão de um nervo, o nervo mediano, pelo aumento das estruturas que, junto com ele, passam por um canal estreito chamado túnel do carpo.</a:t>
            </a:r>
            <a:endParaRPr lang="en-US" sz="2000" dirty="0"/>
          </a:p>
        </p:txBody>
      </p:sp>
      <p:pic>
        <p:nvPicPr>
          <p:cNvPr id="4" name="imagem-65" descr="Síndrome do túnel do car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512509"/>
            <a:ext cx="4297680" cy="25528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DOENÇAS OCUPACIONAIS</a:t>
            </a:r>
            <a:endParaRPr lang="en-US" sz="2400" dirty="0"/>
          </a:p>
        </p:txBody>
      </p:sp>
      <p:sp>
        <p:nvSpPr>
          <p:cNvPr id="3" name="texto-66"/>
          <p:cNvSpPr txBox="1"/>
          <p:nvPr/>
        </p:nvSpPr>
        <p:spPr>
          <a:xfrm>
            <a:off x="457200" y="1005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Síndrome de Raynaud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Em 1862, o médico francês Auguste Gabriel Maurice Raynaud descreveu a Síndrome dos Dedos Brancos, hoje conhecida como Doença de Raynaud.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Consiste em uma desordem vascular nas extremidades dos dedos, provocada por vibrações excessivas, frio, estresse e tabagismo.</a:t>
            </a:r>
            <a:endParaRPr lang="en-US" sz="2000" dirty="0"/>
          </a:p>
        </p:txBody>
      </p:sp>
      <p:pic>
        <p:nvPicPr>
          <p:cNvPr id="4" name="imagem-67" descr="Dedos brancos - Rayna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86314"/>
            <a:ext cx="3383280" cy="320521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NR-12 – Anexo V</a:t>
            </a:r>
            <a:endParaRPr lang="en-US" sz="1600" dirty="0"/>
          </a:p>
        </p:txBody>
      </p:sp>
      <p:sp>
        <p:nvSpPr>
          <p:cNvPr id="4" name="circulo-68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6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11046"/>
            <a:ext cx="2194560" cy="1549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selo-70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71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o-72"/>
          <p:cNvSpPr txBox="1"/>
          <p:nvPr/>
        </p:nvSpPr>
        <p:spPr>
          <a:xfrm>
            <a:off x="1188720" y="1024128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Dispositivos de segurança: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as motosserras fabricadas e importadas, para comercialização no país, deverão dispor dos seguintes dispositivos de segurança:</a:t>
            </a:r>
            <a:endParaRPr lang="en-US" sz="1800" dirty="0"/>
          </a:p>
        </p:txBody>
      </p:sp>
      <p:pic>
        <p:nvPicPr>
          <p:cNvPr id="6" name="imagem-7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63696"/>
            <a:ext cx="4114800" cy="32504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texto-74"/>
          <p:cNvSpPr txBox="1"/>
          <p:nvPr/>
        </p:nvSpPr>
        <p:spPr>
          <a:xfrm>
            <a:off x="457200" y="10058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a) Freio manual de corrente;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b) Pino pega-corrente;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c) Protetor da mão direita;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d) Protetor da mão esquerda;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e) Trava de segurança do acelerador.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1.1. As motopodas e similares devem atender, no que couber, o disposto no item 1 e alíneas deste Anexo.</a:t>
            </a:r>
            <a:endParaRPr lang="en-US" sz="1700" dirty="0"/>
          </a:p>
        </p:txBody>
      </p:sp>
      <p:pic>
        <p:nvPicPr>
          <p:cNvPr id="4" name="imagem-75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422699"/>
            <a:ext cx="4297680" cy="27324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texto-76"/>
          <p:cNvSpPr txBox="1"/>
          <p:nvPr/>
        </p:nvSpPr>
        <p:spPr>
          <a:xfrm>
            <a:off x="457200" y="1005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1.2 – Para fins de aplicação deste item, define-se: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a) Freio manual de corrente: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dispositivo de segurança que interrompe o giro da corrente, acionado pela mão esquerda do operador;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b) Pino pega-corrente: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dispositivo de segurança que, nos casos de rompimento da corrente, reduz seu curso, evitando que atinja o operador;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c) Protetor da mão direita: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proteção traseira que, no caso de rompimento da corrente, evita que esta atinja a mão do operador;</a:t>
            </a:r>
            <a:endParaRPr lang="en-US" sz="1500" dirty="0"/>
          </a:p>
        </p:txBody>
      </p:sp>
      <p:pic>
        <p:nvPicPr>
          <p:cNvPr id="4" name="imagem-7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576498"/>
            <a:ext cx="3383280" cy="24248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texto-78"/>
          <p:cNvSpPr txBox="1"/>
          <p:nvPr/>
        </p:nvSpPr>
        <p:spPr>
          <a:xfrm>
            <a:off x="457200" y="100584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1.2 – Para fins de aplicação deste item, define-se: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d) Protetor da mão esquerda: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proteção frontal que evita que a mão do operador alcance, involuntariamente, a corrente durante a operação de corte;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e) Trava de segurança do acelerador: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dispositivo que impede a aceleração involuntária.</a:t>
            </a:r>
            <a:endParaRPr lang="en-US" sz="1700" dirty="0"/>
          </a:p>
        </p:txBody>
      </p:sp>
      <p:pic>
        <p:nvPicPr>
          <p:cNvPr id="4" name="imagem-7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576498"/>
            <a:ext cx="3383280" cy="24248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selo-80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81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texto-82"/>
          <p:cNvSpPr txBox="1"/>
          <p:nvPr/>
        </p:nvSpPr>
        <p:spPr>
          <a:xfrm>
            <a:off x="1188720" y="1024128"/>
            <a:ext cx="3931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Os fabricantes e importadores de motosserras e similares devem informar, nos catálogos e manuais de instruções de todos os modelos,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os níveis de ruído e vibração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e a metodologia utilizada para a referida aferição.</a:t>
            </a:r>
            <a:endParaRPr lang="en-US" sz="1800" dirty="0"/>
          </a:p>
        </p:txBody>
      </p:sp>
      <p:pic>
        <p:nvPicPr>
          <p:cNvPr id="6" name="imagem-8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4626" y="1005840"/>
            <a:ext cx="3043948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selo-84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85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texto-86"/>
          <p:cNvSpPr txBox="1"/>
          <p:nvPr/>
        </p:nvSpPr>
        <p:spPr>
          <a:xfrm>
            <a:off x="1188720" y="1024128"/>
            <a:ext cx="4480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Manual de instruções: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as motosserras e similares fabricadas e importadas devem ser comercializadas com manual de instruções que contenha informações relativas à segurança e à saúde no trabalho, especialmente: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a) quanto aos riscos à segurança e à saúde durante o seu manuseio;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b) instruções de segurança no trabalho com o equipamento, de acordo com o previsto nas Recomendações Práticas da Organização Internacional do Trabalho – OIT;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c) especificações de ruído e vibração; 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d) advertências sobre o uso inadequado.</a:t>
            </a:r>
            <a:endParaRPr lang="en-US" sz="1400" dirty="0"/>
          </a:p>
        </p:txBody>
      </p:sp>
      <p:pic>
        <p:nvPicPr>
          <p:cNvPr id="6" name="imagem-8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2012"/>
            <a:ext cx="2743200" cy="32138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selo-88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89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texto-90"/>
          <p:cNvSpPr txBox="1"/>
          <p:nvPr/>
        </p:nvSpPr>
        <p:spPr>
          <a:xfrm>
            <a:off x="1188720" y="1024128"/>
            <a:ext cx="4572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Os fabricantes e importadores de motosserras e similares instalados no país devem disponibilizar, por meio de seus revendedores, treinamento e material didático para os usuários, conforme conteúdo programático relativo à utilização constante do manual de instruções.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4.1. Os empregadores devem promover, a todos os operadores de motosserra e similares, treinamento para utilização segura da máquina, com carga horária mínima de oito horas e conforme conteúdo programático relativo à utilização constante do manual de instruções.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4.2. Os certificados de garantia das máquinas devem ter campo específico, a ser assinado pelo consumidor, confirmando a disponibilidade do treinamento ou responsabilizando-se pelo treinamento dos trabalhadores que utilizarão a máquina.</a:t>
            </a:r>
            <a:endParaRPr lang="en-US" sz="1300" dirty="0"/>
          </a:p>
        </p:txBody>
      </p:sp>
      <p:pic>
        <p:nvPicPr>
          <p:cNvPr id="6" name="imagem-9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6909"/>
            <a:ext cx="2651760" cy="19240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selo-92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93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5" name="texto-94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Todos os modelos de motosserra e similares devem conter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sinalização de advertência indelével e resistente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, em local de fácil leitura e visualização do usuário, com a seguinte informação: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“O uso inadequado pode provocar acidentes graves e danos à saúde.”</a:t>
            </a:r>
            <a:endParaRPr lang="en-US" sz="1600" dirty="0"/>
          </a:p>
        </p:txBody>
      </p:sp>
      <p:pic>
        <p:nvPicPr>
          <p:cNvPr id="6" name="imagem-95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65013"/>
            <a:ext cx="3657600" cy="24478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DISPOSITIVOS DE SEGURANÇA</a:t>
            </a:r>
            <a:endParaRPr lang="en-US" sz="2400" dirty="0"/>
          </a:p>
        </p:txBody>
      </p:sp>
      <p:sp>
        <p:nvSpPr>
          <p:cNvPr id="3" name="selo-96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97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5" name="texto-98"/>
          <p:cNvSpPr txBox="1"/>
          <p:nvPr/>
        </p:nvSpPr>
        <p:spPr>
          <a:xfrm>
            <a:off x="1188720" y="1024128"/>
            <a:ext cx="32918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É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proibido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o uso de motosserras e similares à combustão interna em lugares fechados ou insuficientemente ventilados.</a:t>
            </a:r>
            <a:endParaRPr lang="en-US" sz="1800" dirty="0"/>
          </a:p>
        </p:txBody>
      </p:sp>
      <p:pic>
        <p:nvPicPr>
          <p:cNvPr id="6" name="imagem-9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20827"/>
            <a:ext cx="3931920" cy="273618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28 regras para operar a motosserra com segurança</a:t>
            </a:r>
            <a:endParaRPr lang="en-US" sz="1600" dirty="0"/>
          </a:p>
        </p:txBody>
      </p:sp>
      <p:sp>
        <p:nvSpPr>
          <p:cNvPr id="4" name="circulo-100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10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11046"/>
            <a:ext cx="2194560" cy="1549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02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03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1º</a:t>
            </a:r>
            <a:endParaRPr lang="en-US" sz="1600" dirty="0"/>
          </a:p>
        </p:txBody>
      </p:sp>
      <p:sp>
        <p:nvSpPr>
          <p:cNvPr id="5" name="texto-104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Nunca opere uma motosserra quando estiver cansado, doente ou perturbado, ou sob a influência de medicamentos que possam produzir sonolência, ou se estiver sob o efeito de álcool ou drogas ilícitas.</a:t>
            </a:r>
            <a:endParaRPr lang="en-US" sz="1700" dirty="0"/>
          </a:p>
        </p:txBody>
      </p:sp>
      <p:pic>
        <p:nvPicPr>
          <p:cNvPr id="6" name="imagem-105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24596"/>
            <a:ext cx="3611880" cy="23195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06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07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2º</a:t>
            </a:r>
            <a:endParaRPr lang="en-US" sz="1600" dirty="0"/>
          </a:p>
        </p:txBody>
      </p:sp>
      <p:sp>
        <p:nvSpPr>
          <p:cNvPr id="5" name="texto-108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 calçado de segurança, vestuário justo e dispositivos de proteção para os olhos, ouvidos e cabeça. Use luvas à prova de vibração.</a:t>
            </a:r>
            <a:endParaRPr lang="en-US" sz="1700" dirty="0"/>
          </a:p>
        </p:txBody>
      </p:sp>
      <p:pic>
        <p:nvPicPr>
          <p:cNvPr id="6" name="imagem-10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376724"/>
            <a:ext cx="1691640" cy="815248"/>
          </a:xfrm>
          <a:prstGeom prst="rect">
            <a:avLst/>
          </a:prstGeom>
        </p:spPr>
      </p:pic>
      <p:pic>
        <p:nvPicPr>
          <p:cNvPr id="7" name="imagem-110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796874"/>
            <a:ext cx="1691640" cy="197494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11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12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3º</a:t>
            </a:r>
            <a:endParaRPr lang="en-US" sz="1600" dirty="0"/>
          </a:p>
        </p:txBody>
      </p:sp>
      <p:sp>
        <p:nvSpPr>
          <p:cNvPr id="5" name="texto-113"/>
          <p:cNvSpPr txBox="1"/>
          <p:nvPr/>
        </p:nvSpPr>
        <p:spPr>
          <a:xfrm>
            <a:off x="1188720" y="1024128"/>
            <a:ext cx="74980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Mantenha a corrente da serra bem afiada e o sistema antivibração (média de 06 a 08 amortecedores) em boas condições.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3.1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– Uma corrente sem corte aumenta o tempo de trabalho, e um “erro” comum nestes casos, pela falta de eficiência no corte, é pressionar o sabre na madeira. Essa atitude aumenta a vibração transmitida para as mãos e aumenta o perigo de a corrente partir.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3.2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– Uma serra com componentes soltos ou amortecedores antivibração danificados ou desgastados tende a ter níveis mais altos de vibração.</a:t>
            </a:r>
            <a:endParaRPr lang="en-US" sz="1500" dirty="0"/>
          </a:p>
        </p:txBody>
      </p:sp>
      <p:pic>
        <p:nvPicPr>
          <p:cNvPr id="6" name="imagem-114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474720"/>
            <a:ext cx="7620000" cy="10972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texto-115"/>
          <p:cNvSpPr txBox="1"/>
          <p:nvPr/>
        </p:nvSpPr>
        <p:spPr>
          <a:xfrm>
            <a:off x="457200" y="1005840"/>
            <a:ext cx="2743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Afiação da corrente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Use a lima e o gabarito indicados pelo fabricante para manter o ângulo e a profundidade corretos dos dentes.</a:t>
            </a:r>
            <a:endParaRPr lang="en-US" sz="2000" dirty="0"/>
          </a:p>
        </p:txBody>
      </p:sp>
      <p:pic>
        <p:nvPicPr>
          <p:cNvPr id="4" name="imagem-116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154657"/>
            <a:ext cx="1554480" cy="3268526"/>
          </a:xfrm>
          <a:prstGeom prst="rect">
            <a:avLst/>
          </a:prstGeom>
        </p:spPr>
      </p:pic>
      <p:pic>
        <p:nvPicPr>
          <p:cNvPr id="5" name="imagem-117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20873"/>
            <a:ext cx="3566160" cy="23360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DANOS COMUNS À CORRENTE E SUAS CAUSAS</a:t>
            </a:r>
            <a:endParaRPr lang="en-US" sz="2400" dirty="0"/>
          </a:p>
        </p:txBody>
      </p:sp>
      <p:sp>
        <p:nvSpPr>
          <p:cNvPr id="3" name="texto-118"/>
          <p:cNvSpPr txBox="1"/>
          <p:nvPr/>
        </p:nvSpPr>
        <p:spPr>
          <a:xfrm>
            <a:off x="457200" y="100584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Verifique regularmente a corrente da sua motosserra: somente assim será possível evitar o surgimento de danos. Alguns danos comuns podem surgir quando se tenciona a corrente de maneira errada.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 – Desgaste excessivo da parte traseira dos dentes de corte e dos elos opostos.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Causa: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dente com corte cego; dente de corte com fio inclinado para trás; corrente muito frouxa; ou, ainda, o limitador de profundidade pode estar muito baixo.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Solução: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afiar corretamente os dentes de corte; tencionar corretamente a corrente.</a:t>
            </a:r>
            <a:endParaRPr lang="en-US" sz="1400" dirty="0"/>
          </a:p>
        </p:txBody>
      </p:sp>
      <p:pic>
        <p:nvPicPr>
          <p:cNvPr id="4" name="imagem-11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066384"/>
            <a:ext cx="3474720" cy="14450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DANOS COMUNS À CORRENTE E SUAS CAUSAS</a:t>
            </a:r>
            <a:endParaRPr lang="en-US" sz="2400" dirty="0"/>
          </a:p>
        </p:txBody>
      </p:sp>
      <p:sp>
        <p:nvSpPr>
          <p:cNvPr id="3" name="selo-120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21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5" name="texto-122"/>
          <p:cNvSpPr txBox="1"/>
          <p:nvPr/>
        </p:nvSpPr>
        <p:spPr>
          <a:xfrm>
            <a:off x="1188720" y="1024128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Forte desgaste na superfície de todos os elos da corrente.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Causa: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corrente muito tensionada; limitador de profundidade muito alto; dente com corte cego e ângulo de corte muito pequeno, ocasionando, portanto, muita pressão sobre o sabre guia.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Solução: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afiar corretamente os dentes de corte; tencionar corretamente a corrente.</a:t>
            </a:r>
            <a:endParaRPr lang="en-US" sz="1500" dirty="0"/>
          </a:p>
        </p:txBody>
      </p:sp>
      <p:pic>
        <p:nvPicPr>
          <p:cNvPr id="6" name="imagem-12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391117"/>
            <a:ext cx="3200400" cy="27956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DANOS COMUNS À CORRENTE E SUAS CAUSAS</a:t>
            </a:r>
            <a:endParaRPr lang="en-US" sz="2400" dirty="0"/>
          </a:p>
        </p:txBody>
      </p:sp>
      <p:sp>
        <p:nvSpPr>
          <p:cNvPr id="3" name="selo-124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25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5" name="texto-126"/>
          <p:cNvSpPr txBox="1"/>
          <p:nvPr/>
        </p:nvSpPr>
        <p:spPr>
          <a:xfrm>
            <a:off x="1188720" y="1024128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Fissuras na parte de trás do furo dos dentes de corte e nos elos opostos.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Causa: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dente com corte cego e com fio muito inclinado para trás, ocasionando, portanto, muita pressão durante o corte.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Solução: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afiar corretamente os dentes de corte; tencionar corretamente a corrente.</a:t>
            </a:r>
            <a:endParaRPr lang="en-US" sz="1500" dirty="0"/>
          </a:p>
        </p:txBody>
      </p:sp>
      <p:pic>
        <p:nvPicPr>
          <p:cNvPr id="6" name="imagem-12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02080"/>
            <a:ext cx="3200400" cy="2773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DANOS COMUNS À CORRENTE E SUAS CAUSAS</a:t>
            </a:r>
            <a:endParaRPr lang="en-US" sz="2400" dirty="0"/>
          </a:p>
        </p:txBody>
      </p:sp>
      <p:sp>
        <p:nvSpPr>
          <p:cNvPr id="3" name="selo-128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29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5" name="texto-130"/>
          <p:cNvSpPr txBox="1"/>
          <p:nvPr/>
        </p:nvSpPr>
        <p:spPr>
          <a:xfrm>
            <a:off x="1188720" y="1024128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Trilhos do sabre na parte superior da entrada e na parte inferior da extremidade da polia de desvio cravados ou pregados; parte inferior do sabre ondulada. A corrente não desliza bem e o desgaste aumenta rapidamente.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Causa: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corrente da serra utilizada muito frouxa durante um longo período; período sem utilização.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Solução: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tencionar regularmente a corrente.</a:t>
            </a:r>
            <a:endParaRPr lang="en-US" sz="1500" dirty="0"/>
          </a:p>
        </p:txBody>
      </p:sp>
      <p:pic>
        <p:nvPicPr>
          <p:cNvPr id="6" name="imagem-13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88404"/>
            <a:ext cx="3200400" cy="2601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32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33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4º</a:t>
            </a:r>
            <a:endParaRPr lang="en-US" sz="1600" dirty="0"/>
          </a:p>
        </p:txBody>
      </p:sp>
      <p:sp>
        <p:nvSpPr>
          <p:cNvPr id="5" name="texto-134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Todas as precauções mencionadas garantem que você não vá sofrer da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síndrome dos dedos brancos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ou da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síndrome do túnel do carpo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Portanto, usuários regulares e contínuos devem monitorar com atenção as condições de suas mãos e dedos. Se qualquer das síndromes listadas acima aparecer, procure aconselhamento médico imediatamente.</a:t>
            </a:r>
            <a:endParaRPr lang="en-US" sz="1600" dirty="0"/>
          </a:p>
        </p:txBody>
      </p:sp>
      <p:pic>
        <p:nvPicPr>
          <p:cNvPr id="6" name="imagem-135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33467"/>
            <a:ext cx="3611880" cy="27017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36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37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5º</a:t>
            </a:r>
            <a:endParaRPr lang="en-US" sz="1600" dirty="0"/>
          </a:p>
        </p:txBody>
      </p:sp>
      <p:sp>
        <p:nvSpPr>
          <p:cNvPr id="5" name="texto-138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Tenha cuidado sempre que manusear combustível. Limpe todos os derrames e depois afaste a motosserra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pelo menos 3 m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do ponto de enchimento de combustível antes de funcionar o motor.</a:t>
            </a:r>
            <a:endParaRPr lang="en-US" sz="1700" dirty="0"/>
          </a:p>
        </p:txBody>
      </p:sp>
      <p:pic>
        <p:nvPicPr>
          <p:cNvPr id="6" name="imagem-13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266565"/>
            <a:ext cx="1691640" cy="1035567"/>
          </a:xfrm>
          <a:prstGeom prst="rect">
            <a:avLst/>
          </a:prstGeom>
        </p:spPr>
      </p:pic>
      <p:pic>
        <p:nvPicPr>
          <p:cNvPr id="7" name="imagem-140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685371"/>
            <a:ext cx="1691640" cy="21979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41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42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6º</a:t>
            </a:r>
            <a:endParaRPr lang="en-US" sz="1600" dirty="0"/>
          </a:p>
        </p:txBody>
      </p:sp>
      <p:sp>
        <p:nvSpPr>
          <p:cNvPr id="5" name="texto-143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Elimine todas as fontes de faíscas ou chamas (ex.: cigarros, chamas ou trabalhos que possam provocar faíscas) nas áreas onde o combustível é misturado, abastecido ou armazenado.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7º – Não fume enquanto estiver manuseando combustível ou enquanto operar a motosserra.</a:t>
            </a:r>
            <a:endParaRPr lang="en-US" sz="1600" dirty="0"/>
          </a:p>
        </p:txBody>
      </p:sp>
      <p:pic>
        <p:nvPicPr>
          <p:cNvPr id="6" name="imagem-144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354270"/>
            <a:ext cx="1691640" cy="860156"/>
          </a:xfrm>
          <a:prstGeom prst="rect">
            <a:avLst/>
          </a:prstGeom>
        </p:spPr>
      </p:pic>
      <p:pic>
        <p:nvPicPr>
          <p:cNvPr id="7" name="imagem-145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147566"/>
            <a:ext cx="1691640" cy="12735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46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47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8º</a:t>
            </a:r>
            <a:endParaRPr lang="en-US" sz="1600" dirty="0"/>
          </a:p>
        </p:txBody>
      </p:sp>
      <p:sp>
        <p:nvSpPr>
          <p:cNvPr id="5" name="texto-148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Não permita que outras pessoas estejam perto da motosserra quando funcionar a motosserra ou durante o corte. Mantenha os observadores e animais afastados da área de trabalho.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Animais e observadores deverão estar a uma distância mínima de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10 m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quando arrancar ou operar a motosserra.</a:t>
            </a:r>
            <a:endParaRPr lang="en-US" sz="1600" dirty="0"/>
          </a:p>
        </p:txBody>
      </p:sp>
      <p:pic>
        <p:nvPicPr>
          <p:cNvPr id="6" name="imagem-14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204151"/>
            <a:ext cx="3611880" cy="31603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50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51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9º</a:t>
            </a:r>
            <a:endParaRPr lang="en-US" sz="1600" dirty="0"/>
          </a:p>
        </p:txBody>
      </p:sp>
      <p:sp>
        <p:nvSpPr>
          <p:cNvPr id="5" name="texto-152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Nunca comece a cortar antes de ter desimpedido a área de trabalho. Deve ter os pés bem apoiados e prever um abrigo seguro para quando a árvore cair.</a:t>
            </a:r>
            <a:endParaRPr lang="en-US" sz="1700" dirty="0"/>
          </a:p>
        </p:txBody>
      </p:sp>
      <p:pic>
        <p:nvPicPr>
          <p:cNvPr id="6" name="imagem-15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491886"/>
            <a:ext cx="3611880" cy="25849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54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55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10º</a:t>
            </a:r>
            <a:endParaRPr lang="en-US" sz="1600" dirty="0"/>
          </a:p>
        </p:txBody>
      </p:sp>
      <p:sp>
        <p:nvSpPr>
          <p:cNvPr id="5" name="texto-156"/>
          <p:cNvSpPr txBox="1"/>
          <p:nvPr/>
        </p:nvSpPr>
        <p:spPr>
          <a:xfrm>
            <a:off x="1188720" y="102412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Segure sempre a motosserra firmemente com as duas mãos quando o motor estiver funcionando. Segure firmemente com os dedos e os polegares envolvendo os punhos da motosserra.</a:t>
            </a:r>
            <a:endParaRPr lang="en-US" sz="1700" dirty="0"/>
          </a:p>
        </p:txBody>
      </p:sp>
      <p:pic>
        <p:nvPicPr>
          <p:cNvPr id="6" name="imagem-15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474908"/>
            <a:ext cx="2590800" cy="1771024"/>
          </a:xfrm>
          <a:prstGeom prst="rect">
            <a:avLst/>
          </a:prstGeom>
        </p:spPr>
      </p:pic>
      <p:pic>
        <p:nvPicPr>
          <p:cNvPr id="7" name="imagem-158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581505"/>
            <a:ext cx="2590800" cy="1557830"/>
          </a:xfrm>
          <a:prstGeom prst="rect">
            <a:avLst/>
          </a:prstGeom>
        </p:spPr>
      </p:pic>
      <p:pic>
        <p:nvPicPr>
          <p:cNvPr id="8" name="imagem-159" descr="Imagem ilustrativ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9517"/>
            <a:ext cx="2590800" cy="17418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60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61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11º</a:t>
            </a:r>
            <a:endParaRPr lang="en-US" sz="1600" dirty="0"/>
          </a:p>
        </p:txBody>
      </p:sp>
      <p:sp>
        <p:nvSpPr>
          <p:cNvPr id="5" name="texto-162"/>
          <p:cNvSpPr txBox="1"/>
          <p:nvPr/>
        </p:nvSpPr>
        <p:spPr>
          <a:xfrm>
            <a:off x="1188720" y="1024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Mantenha todas as partes do seu corpo afastadas da corrente da serra enquanto o motor estiver funcionando.</a:t>
            </a:r>
            <a:endParaRPr lang="en-US" sz="1700" dirty="0"/>
          </a:p>
        </p:txBody>
      </p:sp>
      <p:pic>
        <p:nvPicPr>
          <p:cNvPr id="6" name="imagem-16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88682"/>
            <a:ext cx="4000500" cy="2177716"/>
          </a:xfrm>
          <a:prstGeom prst="rect">
            <a:avLst/>
          </a:prstGeom>
        </p:spPr>
      </p:pic>
      <p:pic>
        <p:nvPicPr>
          <p:cNvPr id="7" name="imagem-164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090" y="1783080"/>
            <a:ext cx="2788920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65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66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12º</a:t>
            </a:r>
            <a:endParaRPr lang="en-US" sz="1600" dirty="0"/>
          </a:p>
        </p:txBody>
      </p:sp>
      <p:sp>
        <p:nvSpPr>
          <p:cNvPr id="5" name="texto-167"/>
          <p:cNvSpPr txBox="1"/>
          <p:nvPr/>
        </p:nvSpPr>
        <p:spPr>
          <a:xfrm>
            <a:off x="1188720" y="1024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Antes de funcionar o motor, assegure-se de que a corrente da serra não está em contato com nada.</a:t>
            </a:r>
            <a:endParaRPr lang="en-US" sz="1700" dirty="0"/>
          </a:p>
        </p:txBody>
      </p:sp>
      <p:pic>
        <p:nvPicPr>
          <p:cNvPr id="6" name="imagem-168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95597"/>
            <a:ext cx="4000500" cy="1563885"/>
          </a:xfrm>
          <a:prstGeom prst="rect">
            <a:avLst/>
          </a:prstGeom>
        </p:spPr>
      </p:pic>
      <p:pic>
        <p:nvPicPr>
          <p:cNvPr id="7" name="imagem-169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394" y="1783080"/>
            <a:ext cx="1698311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70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71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13º</a:t>
            </a:r>
            <a:endParaRPr lang="en-US" sz="1600" dirty="0"/>
          </a:p>
        </p:txBody>
      </p:sp>
      <p:sp>
        <p:nvSpPr>
          <p:cNvPr id="5" name="texto-172"/>
          <p:cNvSpPr txBox="1"/>
          <p:nvPr/>
        </p:nvSpPr>
        <p:spPr>
          <a:xfrm>
            <a:off x="1188720" y="1024128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Transporte sempre a motosserra com o motor desligado e o freio de corrente acionado, o sabre e a corrente para trás e a panela de escapamento afastada do seu corpo.</a:t>
            </a:r>
            <a:endParaRPr lang="en-US" sz="1700" dirty="0"/>
          </a:p>
        </p:txBody>
      </p:sp>
      <p:pic>
        <p:nvPicPr>
          <p:cNvPr id="6" name="imagem-17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248" y="1920240"/>
            <a:ext cx="7225504" cy="2651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74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75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14º</a:t>
            </a:r>
            <a:endParaRPr lang="en-US" sz="1600" dirty="0"/>
          </a:p>
        </p:txBody>
      </p:sp>
      <p:sp>
        <p:nvSpPr>
          <p:cNvPr id="5" name="texto-176"/>
          <p:cNvSpPr txBox="1"/>
          <p:nvPr/>
        </p:nvSpPr>
        <p:spPr>
          <a:xfrm>
            <a:off x="1188720" y="1024128"/>
            <a:ext cx="47548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Inspecione sempre a motosserra antes de cada utilização, verificando peças gastas, soltas ou danificadas. Nunca opere uma motosserra que esteja danificada, incorretamente afinada ou que não esteja montada completamente. Assegure-se de que o freio da corrente da serra esteja funcionando.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15º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– Em todos os serviços na motosserra, exceto os que estão listados no Manual do Proprietário, deverão ser executados por pessoal qualificado da assistência técnica. Se forem usadas ferramentas impróprias para remover o volante do motor, ou ferramenta imprópria para remover a embreagem, poderão ocorrer danos estruturais no volante do motor.</a:t>
            </a:r>
            <a:endParaRPr lang="en-US" sz="1400" dirty="0"/>
          </a:p>
        </p:txBody>
      </p:sp>
      <p:pic>
        <p:nvPicPr>
          <p:cNvPr id="6" name="imagem-17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86885"/>
            <a:ext cx="2423160" cy="21949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78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79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16º</a:t>
            </a:r>
            <a:endParaRPr lang="en-US" sz="1600" dirty="0"/>
          </a:p>
        </p:txBody>
      </p:sp>
      <p:sp>
        <p:nvSpPr>
          <p:cNvPr id="5" name="texto-180"/>
          <p:cNvSpPr txBox="1"/>
          <p:nvPr/>
        </p:nvSpPr>
        <p:spPr>
          <a:xfrm>
            <a:off x="1188720" y="10241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Use extremas precauções quando cortar arbustos e árvores pequenas, pois o material delgado poderá prender-se à corrente da serra e ser lançado contra você ou desequilibrá-lo.</a:t>
            </a:r>
            <a:endParaRPr lang="en-US" sz="1700" dirty="0"/>
          </a:p>
        </p:txBody>
      </p:sp>
      <p:pic>
        <p:nvPicPr>
          <p:cNvPr id="6" name="imagem-18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388" y="1965960"/>
            <a:ext cx="7779224" cy="2606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82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83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17º</a:t>
            </a:r>
            <a:endParaRPr lang="en-US" sz="1600" dirty="0"/>
          </a:p>
        </p:txBody>
      </p:sp>
      <p:sp>
        <p:nvSpPr>
          <p:cNvPr id="5" name="texto-184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Ao cortar um tronco ou um galho sob tensão, tenha cuidado com o efeito rebote da motosserra e com a madeira quando a tensão sobre as fibras for libertada.</a:t>
            </a:r>
            <a:endParaRPr lang="en-US" sz="1700" dirty="0"/>
          </a:p>
        </p:txBody>
      </p:sp>
      <p:pic>
        <p:nvPicPr>
          <p:cNvPr id="6" name="imagem-185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5964" y="1024128"/>
            <a:ext cx="2449792" cy="1668780"/>
          </a:xfrm>
          <a:prstGeom prst="rect">
            <a:avLst/>
          </a:prstGeom>
        </p:spPr>
      </p:pic>
      <p:pic>
        <p:nvPicPr>
          <p:cNvPr id="7" name="imagem-186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171948"/>
            <a:ext cx="3611880" cy="10764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87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88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18º</a:t>
            </a:r>
            <a:endParaRPr lang="en-US" sz="1600" dirty="0"/>
          </a:p>
        </p:txBody>
      </p:sp>
      <p:sp>
        <p:nvSpPr>
          <p:cNvPr id="5" name="texto-189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Nunca corte com vento forte, mau tempo, quando a visibilidade for fraca ou em temperaturas muito elevadas ou muito baixas. Verifique sempre se a árvore tem ramos mortos que poderão cair durante a operação.</a:t>
            </a:r>
            <a:endParaRPr lang="en-US" sz="1700" dirty="0"/>
          </a:p>
        </p:txBody>
      </p:sp>
      <p:pic>
        <p:nvPicPr>
          <p:cNvPr id="6" name="imagem-190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568396"/>
            <a:ext cx="3611880" cy="243190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91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92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19º</a:t>
            </a:r>
            <a:endParaRPr lang="en-US" sz="1600" dirty="0"/>
          </a:p>
        </p:txBody>
      </p:sp>
      <p:sp>
        <p:nvSpPr>
          <p:cNvPr id="5" name="texto-193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Mantenha os punhos secos, limpos e isentos de óleo ou de mistura de combustível.</a:t>
            </a:r>
            <a:endParaRPr lang="en-US" sz="1800" dirty="0"/>
          </a:p>
        </p:txBody>
      </p:sp>
      <p:pic>
        <p:nvPicPr>
          <p:cNvPr id="6" name="imagem-194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688000"/>
            <a:ext cx="1691640" cy="2192696"/>
          </a:xfrm>
          <a:prstGeom prst="rect">
            <a:avLst/>
          </a:prstGeom>
        </p:spPr>
      </p:pic>
      <p:pic>
        <p:nvPicPr>
          <p:cNvPr id="7" name="imagem-195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302552"/>
            <a:ext cx="1691640" cy="963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196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197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20º</a:t>
            </a:r>
            <a:endParaRPr lang="en-US" sz="1600" dirty="0"/>
          </a:p>
        </p:txBody>
      </p:sp>
      <p:sp>
        <p:nvSpPr>
          <p:cNvPr id="5" name="texto-198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Opere a motosserra apenas em áreas bem ventiladas. Nunca funcione ou opere o motor dentro de um compartimento ou edifício fechado. A fumaça do escapamento contém </a:t>
            </a:r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monóxido de carbono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, que é perigoso para a sua saúde.</a:t>
            </a:r>
            <a:endParaRPr lang="en-US" sz="1700" dirty="0"/>
          </a:p>
        </p:txBody>
      </p:sp>
      <p:pic>
        <p:nvPicPr>
          <p:cNvPr id="6" name="imagem-19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977194"/>
            <a:ext cx="1691640" cy="1614308"/>
          </a:xfrm>
          <a:prstGeom prst="rect">
            <a:avLst/>
          </a:prstGeom>
        </p:spPr>
      </p:pic>
      <p:pic>
        <p:nvPicPr>
          <p:cNvPr id="7" name="imagem-200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302552"/>
            <a:ext cx="1691640" cy="963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01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02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21º</a:t>
            </a:r>
            <a:endParaRPr lang="en-US" sz="1600" dirty="0"/>
          </a:p>
        </p:txBody>
      </p:sp>
      <p:sp>
        <p:nvSpPr>
          <p:cNvPr id="5" name="texto-203"/>
          <p:cNvSpPr txBox="1"/>
          <p:nvPr/>
        </p:nvSpPr>
        <p:spPr>
          <a:xfrm>
            <a:off x="1188720" y="1024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Não opere a motosserra a não ser que tenha sido especialmente treinado para tal atividade.</a:t>
            </a:r>
            <a:endParaRPr lang="en-US" sz="1800" dirty="0"/>
          </a:p>
        </p:txBody>
      </p:sp>
      <p:pic>
        <p:nvPicPr>
          <p:cNvPr id="6" name="imagem-204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744" y="1783080"/>
            <a:ext cx="7206512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05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06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22º</a:t>
            </a:r>
            <a:endParaRPr lang="en-US" sz="1600" dirty="0"/>
          </a:p>
        </p:txBody>
      </p:sp>
      <p:sp>
        <p:nvSpPr>
          <p:cNvPr id="5" name="texto-207"/>
          <p:cNvSpPr txBox="1"/>
          <p:nvPr/>
        </p:nvSpPr>
        <p:spPr>
          <a:xfrm>
            <a:off x="1188720" y="1024128"/>
            <a:ext cx="7498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Proteja-se do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efeito rebote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da motosserra. O efeito rebote é o deslocamento do sabre para cima quando a corrente girando na ponta do sabre entra em contato com um objeto. O rebote pode dar origem a uma perigosa perda de controle da motosserra.</a:t>
            </a:r>
            <a:endParaRPr lang="en-US" sz="1600" dirty="0"/>
          </a:p>
        </p:txBody>
      </p:sp>
      <p:pic>
        <p:nvPicPr>
          <p:cNvPr id="6" name="imagem-208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37" y="2194560"/>
            <a:ext cx="7820526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09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10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23º</a:t>
            </a:r>
            <a:endParaRPr lang="en-US" sz="1600" dirty="0"/>
          </a:p>
        </p:txBody>
      </p:sp>
      <p:sp>
        <p:nvSpPr>
          <p:cNvPr id="5" name="texto-211"/>
          <p:cNvSpPr txBox="1"/>
          <p:nvPr/>
        </p:nvSpPr>
        <p:spPr>
          <a:xfrm>
            <a:off x="1188720" y="1024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Ao transportar a sua motosserra, assegure-se de que a bainha do sabre está no seu lugar.</a:t>
            </a:r>
            <a:endParaRPr lang="en-US" sz="1800" dirty="0"/>
          </a:p>
        </p:txBody>
      </p:sp>
      <p:pic>
        <p:nvPicPr>
          <p:cNvPr id="6" name="imagem-212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976" y="1783080"/>
            <a:ext cx="7558049" cy="2788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13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14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24º</a:t>
            </a:r>
            <a:endParaRPr lang="en-US" sz="1600" dirty="0"/>
          </a:p>
        </p:txBody>
      </p:sp>
      <p:sp>
        <p:nvSpPr>
          <p:cNvPr id="5" name="texto-215"/>
          <p:cNvSpPr txBox="1"/>
          <p:nvPr/>
        </p:nvSpPr>
        <p:spPr>
          <a:xfrm>
            <a:off x="1188720" y="1024128"/>
            <a:ext cx="2743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Não se estique nem corte acima da altura do ombro.</a:t>
            </a:r>
            <a:endParaRPr lang="en-US" sz="1800" dirty="0"/>
          </a:p>
        </p:txBody>
      </p:sp>
      <p:pic>
        <p:nvPicPr>
          <p:cNvPr id="6" name="imagem-216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153412"/>
            <a:ext cx="2103120" cy="1261872"/>
          </a:xfrm>
          <a:prstGeom prst="rect">
            <a:avLst/>
          </a:prstGeom>
        </p:spPr>
      </p:pic>
      <p:pic>
        <p:nvPicPr>
          <p:cNvPr id="7" name="imagem-217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221953"/>
            <a:ext cx="2103120" cy="312479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18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19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25º</a:t>
            </a:r>
            <a:endParaRPr lang="en-US" sz="1600" dirty="0"/>
          </a:p>
        </p:txBody>
      </p:sp>
      <p:sp>
        <p:nvSpPr>
          <p:cNvPr id="5" name="texto-220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Se a madeira se fechar sobre a corrente durante o corte, pare imediatamente o motor, levante o tronco com uma alavanca e libere a motosserra. Não tente liberar a corrente puxando ou acelerando a motosserra.</a:t>
            </a:r>
            <a:endParaRPr lang="en-US" sz="1700" dirty="0"/>
          </a:p>
        </p:txBody>
      </p:sp>
      <p:pic>
        <p:nvPicPr>
          <p:cNvPr id="6" name="imagem-22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145045"/>
            <a:ext cx="3611880" cy="127860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22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23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26º</a:t>
            </a:r>
            <a:endParaRPr lang="en-US" sz="1600" dirty="0"/>
          </a:p>
        </p:txBody>
      </p:sp>
      <p:sp>
        <p:nvSpPr>
          <p:cNvPr id="5" name="texto-224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Use óleo de motor SAE #10W-30 para lubrificar a corrente. Nunca utilize óleo queimado.</a:t>
            </a:r>
            <a:endParaRPr lang="en-US" sz="1800" dirty="0"/>
          </a:p>
        </p:txBody>
      </p:sp>
      <p:pic>
        <p:nvPicPr>
          <p:cNvPr id="6" name="imagem-225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6039" y="1024128"/>
            <a:ext cx="2029641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26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27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27º</a:t>
            </a:r>
            <a:endParaRPr lang="en-US" sz="1600" dirty="0"/>
          </a:p>
        </p:txBody>
      </p:sp>
      <p:sp>
        <p:nvSpPr>
          <p:cNvPr id="5" name="texto-228"/>
          <p:cNvSpPr txBox="1"/>
          <p:nvPr/>
        </p:nvSpPr>
        <p:spPr>
          <a:xfrm>
            <a:off x="1188720" y="1024128"/>
            <a:ext cx="4206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proporção correta de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óleo 2 tempos (2T)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para gasolina depende do fabricante e do tipo de óleo. As proporções mais comuns são: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Padrão 1:50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20 ml de óleo 2T para cada 1 litro de gasolina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Motores antigos ou uso intenso 1:40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→ 25 ml de óleo 2T para cada 1 litro de gasolina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mistura deve ser preparada em recipiente limpo e exclusivo, agitada antes do abastecimento e utilizada em até 30 dias. É obrigatório o uso de óleo 2T de boa qualidade e certificado pelo fabricante.</a:t>
            </a:r>
            <a:endParaRPr lang="en-US" sz="1400" dirty="0"/>
          </a:p>
        </p:txBody>
      </p:sp>
      <p:pic>
        <p:nvPicPr>
          <p:cNvPr id="6" name="imagem-229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170" y="1024128"/>
            <a:ext cx="2483460" cy="1668780"/>
          </a:xfrm>
          <a:prstGeom prst="rect">
            <a:avLst/>
          </a:prstGeom>
        </p:spPr>
      </p:pic>
      <p:pic>
        <p:nvPicPr>
          <p:cNvPr id="7" name="imagem-230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016" y="2875788"/>
            <a:ext cx="2711767" cy="16687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INSTRUÇÕES DE SEGURANÇA</a:t>
            </a:r>
            <a:endParaRPr lang="en-US" sz="2400" dirty="0"/>
          </a:p>
        </p:txBody>
      </p:sp>
      <p:sp>
        <p:nvSpPr>
          <p:cNvPr id="3" name="selo-231"/>
          <p:cNvSpPr/>
          <p:nvPr/>
        </p:nvSpPr>
        <p:spPr>
          <a:xfrm>
            <a:off x="457200" y="10058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ero-232"/>
          <p:cNvSpPr txBox="1"/>
          <p:nvPr/>
        </p:nvSpPr>
        <p:spPr>
          <a:xfrm>
            <a:off x="457200" y="1005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28º</a:t>
            </a:r>
            <a:endParaRPr lang="en-US" sz="1600" dirty="0"/>
          </a:p>
        </p:txBody>
      </p:sp>
      <p:sp>
        <p:nvSpPr>
          <p:cNvPr id="5" name="texto-233"/>
          <p:cNvSpPr txBox="1"/>
          <p:nvPr/>
        </p:nvSpPr>
        <p:spPr>
          <a:xfrm>
            <a:off x="1188720" y="1024128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Toda vez que a motosserra for abastecida com combustível, deverá ser verificado e completado o nível do óleo de lubrificação da corrente, utilizando-se exclusivamente o óleo específico recomendado pelo fabricante do equipamento.</a:t>
            </a:r>
            <a:endParaRPr lang="en-US" sz="1700" dirty="0"/>
          </a:p>
        </p:txBody>
      </p:sp>
      <p:pic>
        <p:nvPicPr>
          <p:cNvPr id="6" name="imagem-234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8094" y="1024128"/>
            <a:ext cx="2005532" cy="3520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IDENTIFICAÇÃO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Conheça as partes da motosserra</a:t>
            </a:r>
            <a:endParaRPr lang="en-US" sz="1600" dirty="0"/>
          </a:p>
        </p:txBody>
      </p:sp>
      <p:sp>
        <p:nvSpPr>
          <p:cNvPr id="4" name="circulo-235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236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11046"/>
            <a:ext cx="2194560" cy="1549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IDENTIFIQUE AS PARTES DA MOTOSSERRA</a:t>
            </a:r>
            <a:endParaRPr lang="en-US" sz="2400" dirty="0"/>
          </a:p>
        </p:txBody>
      </p:sp>
      <p:pic>
        <p:nvPicPr>
          <p:cNvPr id="3" name="imagem-237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01" y="960120"/>
            <a:ext cx="7938198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IDENTIFIQUE AS PARTES DA MOTOSSERRA</a:t>
            </a:r>
            <a:endParaRPr lang="en-US" sz="2400" dirty="0"/>
          </a:p>
        </p:txBody>
      </p:sp>
      <p:pic>
        <p:nvPicPr>
          <p:cNvPr id="3" name="imagem-238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5635"/>
            <a:ext cx="5486400" cy="3560851"/>
          </a:xfrm>
          <a:prstGeom prst="rect">
            <a:avLst/>
          </a:prstGeom>
        </p:spPr>
      </p:pic>
      <p:pic>
        <p:nvPicPr>
          <p:cNvPr id="4" name="imagem-239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708" y="960120"/>
            <a:ext cx="1899305" cy="3611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PARTES DA MOTOSSERRA</a:t>
            </a:r>
            <a:endParaRPr lang="en-US" sz="2400" dirty="0"/>
          </a:p>
        </p:txBody>
      </p:sp>
      <p:sp>
        <p:nvSpPr>
          <p:cNvPr id="3" name="texto-240"/>
          <p:cNvSpPr txBox="1"/>
          <p:nvPr/>
        </p:nvSpPr>
        <p:spPr>
          <a:xfrm>
            <a:off x="457200" y="1005840"/>
            <a:ext cx="2743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Alavanca de partida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Amortecedor(es)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5. Cabo traseiro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6. Acelerador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7. Tampa – tanque de óleo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8. Tampa – tanque de combustível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10. Cabo dianteiro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11. Mecanismo do freio da corrente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15. Cravo – pino pega-corrente</a:t>
            </a:r>
            <a:endParaRPr lang="en-US" sz="1400" dirty="0"/>
          </a:p>
          <a:p>
            <a:pPr indent="0" marL="0">
              <a:lnSpc>
                <a:spcPct val="9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17. Garra</a:t>
            </a:r>
            <a:endParaRPr lang="en-US" sz="1400" dirty="0"/>
          </a:p>
        </p:txBody>
      </p:sp>
      <p:pic>
        <p:nvPicPr>
          <p:cNvPr id="4" name="imagem-241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0" y="1088507"/>
            <a:ext cx="5303520" cy="340082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PARTES DA MOTOSSERRA</a:t>
            </a:r>
            <a:endParaRPr lang="en-US" sz="2400" dirty="0"/>
          </a:p>
        </p:txBody>
      </p:sp>
      <p:sp>
        <p:nvSpPr>
          <p:cNvPr id="3" name="texto-242"/>
          <p:cNvSpPr txBox="1"/>
          <p:nvPr/>
        </p:nvSpPr>
        <p:spPr>
          <a:xfrm>
            <a:off x="457200" y="100584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3. Afogador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4. Trava de segurança do acelerador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9. Protetor da mão esquerda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12. Silencioso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13. Corrente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14. Protetor da mão direita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16. Tampa da embreagem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18. Tampa do filtro de ar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19. Sabre</a:t>
            </a:r>
            <a:endParaRPr lang="en-US" sz="1400" dirty="0"/>
          </a:p>
        </p:txBody>
      </p:sp>
      <p:pic>
        <p:nvPicPr>
          <p:cNvPr id="4" name="imagem-243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039266"/>
            <a:ext cx="3291840" cy="3499309"/>
          </a:xfrm>
          <a:prstGeom prst="rect">
            <a:avLst/>
          </a:prstGeom>
        </p:spPr>
      </p:pic>
      <p:pic>
        <p:nvPicPr>
          <p:cNvPr id="5" name="imagem-244" descr="Imagem ilustrati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068" y="1005840"/>
            <a:ext cx="1391543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ORIENTAÇÕES DE OPERAÇÃO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Abate, poda e traçamento</a:t>
            </a:r>
            <a:endParaRPr lang="en-US" sz="1600" dirty="0"/>
          </a:p>
        </p:txBody>
      </p:sp>
      <p:sp>
        <p:nvSpPr>
          <p:cNvPr id="4" name="circulo-245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magem-246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11046"/>
            <a:ext cx="2194560" cy="15499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OPERAÇÃO – ABATE</a:t>
            </a:r>
            <a:endParaRPr lang="en-US" sz="2400" dirty="0"/>
          </a:p>
        </p:txBody>
      </p:sp>
      <p:sp>
        <p:nvSpPr>
          <p:cNvPr id="3" name="texto-247"/>
          <p:cNvSpPr txBox="1"/>
          <p:nvPr/>
        </p:nvSpPr>
        <p:spPr>
          <a:xfrm>
            <a:off x="457200" y="100584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Decida a direção do abate considerando o vento, a inclinação da árvore, a localização de ramos pesados, o formato da árvore, a facilidade de execução da tarefa após o abate e outros fatores. Ao isolar a área ao redor da árvore, prepare uma boa zona para trabalhar e uma rota de fuga.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Faça um corte de entalhe até um terço da grossura da árvore no lado do abate.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Faça o corte de abate do lado oposto do entalhe, a um nível ligeiramente superior ao do fundo do entalhe.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Obs.: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quando abater uma árvore, avise sobre o perigo os trabalhadores da vizinhança.</a:t>
            </a:r>
            <a:endParaRPr lang="en-US" sz="1400" dirty="0"/>
          </a:p>
        </p:txBody>
      </p:sp>
      <p:pic>
        <p:nvPicPr>
          <p:cNvPr id="4" name="imagem-248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29344"/>
            <a:ext cx="3749040" cy="191915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OPERAÇÃO – ABATE</a:t>
            </a:r>
            <a:endParaRPr lang="en-US" sz="2400" dirty="0"/>
          </a:p>
        </p:txBody>
      </p:sp>
      <p:sp>
        <p:nvSpPr>
          <p:cNvPr id="3" name="texto-249"/>
          <p:cNvSpPr txBox="1"/>
          <p:nvPr/>
        </p:nvSpPr>
        <p:spPr>
          <a:xfrm>
            <a:off x="457200" y="100584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Decida a direção do abate considerando o vento, a inclinação da árvore, a localização de ramos pesados, o formato da árvore, a facilidade de execução da tarefa após o abate e outros fatores. Ao isolar a área ao redor da árvore, prepare uma boa zona para trabalhar e uma rota de fuga.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1. Faça um corte de entalhe até um terço da grossura da árvore no lado do abate.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2. Faça o corte de abate do lado oposto do entalhe, a um nível ligeiramente superior ao do fundo do entalhe.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Obs.: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quando abater uma árvore, avise sobre o perigo os trabalhadores da vizinhança.</a:t>
            </a:r>
            <a:endParaRPr lang="en-US" sz="1400" dirty="0"/>
          </a:p>
        </p:txBody>
      </p:sp>
      <p:pic>
        <p:nvPicPr>
          <p:cNvPr id="4" name="imagem-250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06672"/>
            <a:ext cx="3749040" cy="19644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OPERAÇÃO – PODA DE UMA ÁRVORE EM PÉ</a:t>
            </a:r>
            <a:endParaRPr lang="en-US" sz="2400" dirty="0"/>
          </a:p>
        </p:txBody>
      </p:sp>
      <p:sp>
        <p:nvSpPr>
          <p:cNvPr id="3" name="texto-251"/>
          <p:cNvSpPr txBox="1"/>
          <p:nvPr/>
        </p:nvSpPr>
        <p:spPr>
          <a:xfrm>
            <a:off x="457200" y="1005840"/>
            <a:ext cx="2377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1. Corte a partir de baixo.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2. Termine para baixo, a partir de cima.</a:t>
            </a:r>
            <a:endParaRPr lang="en-US" sz="1800" dirty="0"/>
          </a:p>
        </p:txBody>
      </p:sp>
      <p:pic>
        <p:nvPicPr>
          <p:cNvPr id="4" name="imagem-252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2012229"/>
            <a:ext cx="5669280" cy="155338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OPERAÇÃO – TRONCO AFASTADO DO SOLO</a:t>
            </a:r>
            <a:endParaRPr lang="en-US" sz="2400" dirty="0"/>
          </a:p>
        </p:txBody>
      </p:sp>
      <p:sp>
        <p:nvSpPr>
          <p:cNvPr id="3" name="texto-253"/>
          <p:cNvSpPr txBox="1"/>
          <p:nvPr/>
        </p:nvSpPr>
        <p:spPr>
          <a:xfrm>
            <a:off x="457200" y="100584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Na área A: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a) Corte 1 – serre para cima, a partir de baixo, um terço;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b) Corte 2 – termine serrando para baixo, a partir de cima.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Na área B: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a) Corte 1 – serre para baixo, a partir de cima, um terço;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b) Corte 2 – termine serrando para cima, a partir de baixo.</a:t>
            </a:r>
            <a:endParaRPr lang="en-US" sz="1500" dirty="0"/>
          </a:p>
        </p:txBody>
      </p:sp>
      <p:pic>
        <p:nvPicPr>
          <p:cNvPr id="4" name="imagem-254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4445" y="1005840"/>
            <a:ext cx="4324149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OPERAÇÃO – TRONCO DEITADO NO SOLO</a:t>
            </a:r>
            <a:endParaRPr lang="en-US" sz="2400" dirty="0"/>
          </a:p>
        </p:txBody>
      </p:sp>
      <p:sp>
        <p:nvSpPr>
          <p:cNvPr id="3" name="texto-25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1º Serre para baixo, até a metade do tronco.</a:t>
            </a:r>
            <a:endParaRPr lang="en-US" sz="1800" dirty="0"/>
          </a:p>
        </p:txBody>
      </p:sp>
      <p:pic>
        <p:nvPicPr>
          <p:cNvPr id="4" name="imagem-256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972" y="1600200"/>
            <a:ext cx="6976056" cy="297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OPERAÇÃO – TRONCO DEITADO NO SOLO</a:t>
            </a:r>
            <a:endParaRPr lang="en-US" sz="2400" dirty="0"/>
          </a:p>
        </p:txBody>
      </p:sp>
      <p:sp>
        <p:nvSpPr>
          <p:cNvPr id="3" name="texto-257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2º Depois, role o tronco e corte do lado oposto.</a:t>
            </a:r>
            <a:endParaRPr lang="en-US" sz="1800" dirty="0"/>
          </a:p>
        </p:txBody>
      </p:sp>
      <p:pic>
        <p:nvPicPr>
          <p:cNvPr id="4" name="imagem-258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765" y="1600200"/>
            <a:ext cx="6992471" cy="2971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 ONDE COMEÇAR?</a:t>
            </a:r>
            <a:endParaRPr lang="en-US" sz="2400" dirty="0"/>
          </a:p>
        </p:txBody>
      </p:sp>
      <p:sp>
        <p:nvSpPr>
          <p:cNvPr id="3" name="texto-259"/>
          <p:cNvSpPr txBox="1"/>
          <p:nvPr/>
        </p:nvSpPr>
        <p:spPr>
          <a:xfrm>
            <a:off x="457200" y="100584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Analise a cena: tensões no tronco, galhos presos, rede elétrica, veículos e rotas de fuga. Defina a sequência de cortes antes de ligar a motosserra.</a:t>
            </a:r>
            <a:endParaRPr lang="en-US" sz="1600" dirty="0"/>
          </a:p>
        </p:txBody>
      </p:sp>
      <p:pic>
        <p:nvPicPr>
          <p:cNvPr id="4" name="imagem-260" descr="Imagem ilustrativ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1579397"/>
            <a:ext cx="5029200" cy="24190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FERRAMENTAS ELÉTRICAS PORTÁTEIS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Lixadeira, serra circular, esmerilhadeira, furadeira, serra mármore, retificadora e serra tico-tico</a:t>
            </a:r>
            <a:endParaRPr lang="en-US" sz="1600" dirty="0"/>
          </a:p>
        </p:txBody>
      </p:sp>
      <p:sp>
        <p:nvSpPr>
          <p:cNvPr id="4" name="circulo-261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5" name="icone-ferramentas" descr="Ferrament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REGRAS GERAIS PARA TODAS AS FERRAMENTAS</a:t>
            </a:r>
            <a:endParaRPr lang="en-US" sz="2400" dirty="0"/>
          </a:p>
        </p:txBody>
      </p:sp>
      <p:sp>
        <p:nvSpPr>
          <p:cNvPr id="3" name="cartao-262"/>
          <p:cNvSpPr/>
          <p:nvPr/>
        </p:nvSpPr>
        <p:spPr>
          <a:xfrm>
            <a:off x="457200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tao-titulo-263"/>
          <p:cNvSpPr txBox="1"/>
          <p:nvPr/>
        </p:nvSpPr>
        <p:spPr>
          <a:xfrm>
            <a:off x="64008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do uso</a:t>
            </a:r>
            <a:endParaRPr lang="en-US" sz="1800" dirty="0"/>
          </a:p>
        </p:txBody>
      </p:sp>
      <p:sp>
        <p:nvSpPr>
          <p:cNvPr id="5" name="texto-264"/>
          <p:cNvSpPr txBox="1"/>
          <p:nvPr/>
        </p:nvSpPr>
        <p:spPr>
          <a:xfrm>
            <a:off x="640080" y="164592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Só opere com treinamento e autorização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Inspecione cabo, plugue, carcaça, interruptor e proteções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Confira se o acessório é compatível com a rotação (RPM) da máquina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tomada com aterramento e circuito protegido por DR</a:t>
            </a:r>
            <a:endParaRPr lang="en-US" sz="1400" dirty="0"/>
          </a:p>
        </p:txBody>
      </p:sp>
      <p:sp>
        <p:nvSpPr>
          <p:cNvPr id="6" name="cartao-265"/>
          <p:cNvSpPr/>
          <p:nvPr/>
        </p:nvSpPr>
        <p:spPr>
          <a:xfrm>
            <a:off x="3273552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rtao-titulo-266"/>
          <p:cNvSpPr txBox="1"/>
          <p:nvPr/>
        </p:nvSpPr>
        <p:spPr>
          <a:xfrm>
            <a:off x="3456432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Durante o uso</a:t>
            </a:r>
            <a:endParaRPr lang="en-US" sz="1800" dirty="0"/>
          </a:p>
        </p:txBody>
      </p:sp>
      <p:sp>
        <p:nvSpPr>
          <p:cNvPr id="8" name="texto-267"/>
          <p:cNvSpPr txBox="1"/>
          <p:nvPr/>
        </p:nvSpPr>
        <p:spPr>
          <a:xfrm>
            <a:off x="3456432" y="164592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Peça presa em morsa ou grampos, nunca na mão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Empunhadura firme, com as duas mãos quando previsto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Corpo fora da linha de corte e de projeção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Cabo de alimentação longe da área de corte</a:t>
            </a:r>
            <a:endParaRPr lang="en-US" sz="1400" dirty="0"/>
          </a:p>
        </p:txBody>
      </p:sp>
      <p:sp>
        <p:nvSpPr>
          <p:cNvPr id="9" name="cartao-268"/>
          <p:cNvSpPr/>
          <p:nvPr/>
        </p:nvSpPr>
        <p:spPr>
          <a:xfrm>
            <a:off x="6089904" y="1005840"/>
            <a:ext cx="2606040" cy="356616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tao-titulo-269"/>
          <p:cNvSpPr txBox="1"/>
          <p:nvPr/>
        </p:nvSpPr>
        <p:spPr>
          <a:xfrm>
            <a:off x="6272784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Após o uso</a:t>
            </a:r>
            <a:endParaRPr lang="en-US" sz="1800" dirty="0"/>
          </a:p>
        </p:txBody>
      </p:sp>
      <p:sp>
        <p:nvSpPr>
          <p:cNvPr id="11" name="texto-270"/>
          <p:cNvSpPr txBox="1"/>
          <p:nvPr/>
        </p:nvSpPr>
        <p:spPr>
          <a:xfrm>
            <a:off x="6272784" y="1645920"/>
            <a:ext cx="2240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Aguarde a parada total antes de apoiar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Retire da tomada para trocar acessórios ou limpar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Guarde em local seco, com acessórios protegidos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Nunca remova ou trave proteções e coifas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LIXADEIRA – RISCOS E EPI</a:t>
            </a:r>
            <a:endParaRPr lang="en-US" sz="2400" dirty="0"/>
          </a:p>
        </p:txBody>
      </p:sp>
      <p:sp>
        <p:nvSpPr>
          <p:cNvPr id="3" name="circulo-ferramenta-271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272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273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Lixadeira orbital, de cinta ou angular com disco de lixa. Usada no acabamento e desbaste de madeira, metal e massa.</a:t>
            </a:r>
            <a:endParaRPr lang="en-US" sz="1400" dirty="0"/>
          </a:p>
        </p:txBody>
      </p:sp>
      <p:sp>
        <p:nvSpPr>
          <p:cNvPr id="6" name="cartao-274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275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276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277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Poeira de madeira, metal ou tinta (vias respiratórias)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Projeção de partículas nos olhos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Ruído e vibração (mãos e braços)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Enroscamento de roupas e cabelos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Choque elétrico por cabo danificado</a:t>
            </a:r>
            <a:endParaRPr lang="en-US" sz="1400" dirty="0"/>
          </a:p>
        </p:txBody>
      </p:sp>
      <p:sp>
        <p:nvSpPr>
          <p:cNvPr id="10" name="cartao-278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279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280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281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 ou protetor facial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Respirador PFF2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Luvas adequadas à tarefa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LIXADEIRA – OPERAÇÃO SEGURA</a:t>
            </a:r>
            <a:endParaRPr lang="en-US" sz="2400" dirty="0"/>
          </a:p>
        </p:txBody>
      </p:sp>
      <p:sp>
        <p:nvSpPr>
          <p:cNvPr id="3" name="cartao-282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283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284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285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Fixe a peça antes de lixar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lixa compatível com a máquina e o material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Ligue o aspirador ou coletor de pó, quando houver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Deixe a máquina atingir a rotação antes de encostar na peça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Faça pausas para reduzir a exposição à vibração</a:t>
            </a:r>
            <a:endParaRPr lang="en-US" sz="1400" dirty="0"/>
          </a:p>
        </p:txBody>
      </p:sp>
      <p:sp>
        <p:nvSpPr>
          <p:cNvPr id="7" name="cartao-286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287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288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289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Trocar a lixa com a máquina ligada na tomada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Pressionar demais a máquina contra a peça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Lixar perto de solventes ou poeira inflamável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roupas folgadas, correntes ou cabelo solto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Apoiar a máquina antes da parada total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SERRA CIRCULAR – RISCOS E EPI</a:t>
            </a:r>
            <a:endParaRPr lang="en-US" sz="2400" dirty="0"/>
          </a:p>
        </p:txBody>
      </p:sp>
      <p:sp>
        <p:nvSpPr>
          <p:cNvPr id="3" name="circulo-ferramenta-290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291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292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Serra portátil de disco dentado para cortes retos em madeira e derivados. Alto risco de rebote.</a:t>
            </a:r>
            <a:endParaRPr lang="en-US" sz="1400" dirty="0"/>
          </a:p>
        </p:txBody>
      </p:sp>
      <p:sp>
        <p:nvSpPr>
          <p:cNvPr id="6" name="cartao-293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294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295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296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Contato com o disco (cortes e amputações)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Rebote (contragolpe) da máquina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Projeção de cavacos e farpas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Ruído e poeira de madeira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Choque elétrico</a:t>
            </a:r>
            <a:endParaRPr lang="en-US" sz="1400" dirty="0"/>
          </a:p>
        </p:txBody>
      </p:sp>
      <p:sp>
        <p:nvSpPr>
          <p:cNvPr id="10" name="cartao-297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298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299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300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 ou protetor facial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Respirador PFF2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Vestimenta justa, sem adornos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SERRA CIRCULAR – OPERAÇÃO SEGURA</a:t>
            </a:r>
            <a:endParaRPr lang="en-US" sz="2400" dirty="0"/>
          </a:p>
        </p:txBody>
      </p:sp>
      <p:sp>
        <p:nvSpPr>
          <p:cNvPr id="3" name="cartao-301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302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303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304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Confirme que a coifa inferior retorna sozinha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Regule a profundidade: o disco deve passar pouco abaixo da peça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Apoie bem a peça e mantenha a sapata sobre ela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Posicione o corpo ao lado da linha de corte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disco afiado, no sentido de rotação indicado</a:t>
            </a:r>
            <a:endParaRPr lang="en-US" sz="1400" dirty="0"/>
          </a:p>
        </p:txBody>
      </p:sp>
      <p:sp>
        <p:nvSpPr>
          <p:cNvPr id="7" name="cartao-305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306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307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308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Travar ou amarrar a coifa inferior aberta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Cortar acima da altura do ombro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Segurar a peça com a mão ou no joelho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Remover a faca divisora (cutelo), quando houver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Retirar a serra do corte com o disco girando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ESMERILHADEIRA – RISCOS E EPI</a:t>
            </a:r>
            <a:endParaRPr lang="en-US" sz="2400" dirty="0"/>
          </a:p>
        </p:txBody>
      </p:sp>
      <p:sp>
        <p:nvSpPr>
          <p:cNvPr id="3" name="circulo-ferramenta-309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31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311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Esmerilhadeira angular para corte e desbaste de metais, pedras e concreto com discos abrasivos.</a:t>
            </a:r>
            <a:endParaRPr lang="en-US" sz="1400" dirty="0"/>
          </a:p>
        </p:txBody>
      </p:sp>
      <p:sp>
        <p:nvSpPr>
          <p:cNvPr id="6" name="cartao-312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313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314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315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Quebra do disco e projeção de fragmentos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Rebote e perda de controle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Faíscas: queimaduras e incêndio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Ruído, vibração e poeira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Choque elétrico</a:t>
            </a:r>
            <a:endParaRPr lang="en-US" sz="1400" dirty="0"/>
          </a:p>
        </p:txBody>
      </p:sp>
      <p:sp>
        <p:nvSpPr>
          <p:cNvPr id="10" name="cartao-316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317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318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319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 + protetor facial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Luvas de vaqueta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Avental e mangas de raspa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 e respirador PFF2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ESMERILHADEIRA – OPERAÇÃO SEGURA</a:t>
            </a:r>
            <a:endParaRPr lang="en-US" sz="2400" dirty="0"/>
          </a:p>
        </p:txBody>
      </p:sp>
      <p:sp>
        <p:nvSpPr>
          <p:cNvPr id="3" name="cartao-320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321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322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323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Confira a rotação máxima do disco: deve ser maior ou igual à da máquina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Verifique a validade e a integridade do disco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Mantenha a coifa e o punho lateral instalados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Teste o disco novo girando em vazio, fora da linha do corpo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Isole a área e afaste materiais inflamáveis das faíscas</a:t>
            </a:r>
            <a:endParaRPr lang="en-US" sz="1400" dirty="0"/>
          </a:p>
        </p:txBody>
      </p:sp>
      <p:sp>
        <p:nvSpPr>
          <p:cNvPr id="7" name="cartao-324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325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326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327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Remover a coifa de proteção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disco de corte para desbaste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Adaptar disco de serra para madeira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Travar o gatilho na posição ligado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Apoiar a máquina antes da parada total do disco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FURADEIRA – RISCOS E EPI</a:t>
            </a:r>
            <a:endParaRPr lang="en-US" sz="2400" dirty="0"/>
          </a:p>
        </p:txBody>
      </p:sp>
      <p:sp>
        <p:nvSpPr>
          <p:cNvPr id="3" name="circulo-ferramenta-328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329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330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Furadeira comum ou de impacto para furos em madeira, metal e alvenaria.</a:t>
            </a:r>
            <a:endParaRPr lang="en-US" sz="1400" dirty="0"/>
          </a:p>
        </p:txBody>
      </p:sp>
      <p:sp>
        <p:nvSpPr>
          <p:cNvPr id="6" name="cartao-331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332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333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334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Enroscamento de roupas, luvas e cabelos na broca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Torção do punho quando a broca trava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Projeção de cavacos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Perfuração de fiação ou tubulação embutida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Ruído e poeira (furadeira de impacto)</a:t>
            </a:r>
            <a:endParaRPr lang="en-US" sz="1400" dirty="0"/>
          </a:p>
        </p:txBody>
      </p:sp>
      <p:sp>
        <p:nvSpPr>
          <p:cNvPr id="10" name="cartao-335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336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337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338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Respirador PFF2 em alvenaria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Luvas somente se não houver risco de enroscamento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FURADEIRA – OPERAÇÃO SEGURA</a:t>
            </a:r>
            <a:endParaRPr lang="en-US" sz="2400" dirty="0"/>
          </a:p>
        </p:txBody>
      </p:sp>
      <p:sp>
        <p:nvSpPr>
          <p:cNvPr id="3" name="cartao-339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340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341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342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Prenda a peça com morsa ou grampos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Retire a chave do mandril antes de ligar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o punho auxiliar e mantenha a máquina firme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Escolha a broca certa para o material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Verifique fiação e tubulações antes de furar paredes</a:t>
            </a:r>
            <a:endParaRPr lang="en-US" sz="1400" dirty="0"/>
          </a:p>
        </p:txBody>
      </p:sp>
      <p:sp>
        <p:nvSpPr>
          <p:cNvPr id="7" name="cartao-343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344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345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346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Segurar peças pequenas com a mão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luvas folgadas, mangas soltas ou adornos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Forçar a broca além da capacidade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Trocar a broca com a máquina na tomada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Tocar a broca logo após o uso (aquecida)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SERRA MÁRMORE – RISCOS E EPI</a:t>
            </a:r>
            <a:endParaRPr lang="en-US" sz="2400" dirty="0"/>
          </a:p>
        </p:txBody>
      </p:sp>
      <p:sp>
        <p:nvSpPr>
          <p:cNvPr id="3" name="circulo-ferramenta-347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348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349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Serra portátil com disco diamantado para cortar pisos, revestimentos, pedras e concreto.</a:t>
            </a:r>
            <a:endParaRPr lang="en-US" sz="1400" dirty="0"/>
          </a:p>
        </p:txBody>
      </p:sp>
      <p:sp>
        <p:nvSpPr>
          <p:cNvPr id="6" name="cartao-350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35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352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353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Poeira com sílica cristalina (silicose)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Quebra do disco e projeção de fragmentos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Rebote e perda de controle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Choque elétrico, principalmente no corte úmido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Ruído elevado</a:t>
            </a:r>
            <a:endParaRPr lang="en-US" sz="1400" dirty="0"/>
          </a:p>
        </p:txBody>
      </p:sp>
      <p:sp>
        <p:nvSpPr>
          <p:cNvPr id="10" name="cartao-354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355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356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357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Respirador PFF2 ou PFF3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 + protetor facial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Luvas de vaqueta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SERRA MÁRMORE – OPERAÇÃO SEGURA</a:t>
            </a:r>
            <a:endParaRPr lang="en-US" sz="2400" dirty="0"/>
          </a:p>
        </p:txBody>
      </p:sp>
      <p:sp>
        <p:nvSpPr>
          <p:cNvPr id="3" name="cartao-358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359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360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361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Prefira corte a úmido ou com aspiração de pó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circuito com DR quando houver água no corte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disco diamantado adequado ao material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Mantenha a coifa instalada e o cabo afastado da água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Apoie a peça sobre base firme e nivelada</a:t>
            </a:r>
            <a:endParaRPr lang="en-US" sz="1400" dirty="0"/>
          </a:p>
        </p:txBody>
      </p:sp>
      <p:sp>
        <p:nvSpPr>
          <p:cNvPr id="7" name="cartao-362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363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364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365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Adaptar disco dentado de serra para madeira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Cortar a seco em ambiente fechado sem proteção respiratória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Remover a coifa de proteção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Cortar peças apoiadas no pé ou na mão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a máquina com cabo ou plugue molhado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RETIFICADORA – RISCOS E EPI</a:t>
            </a:r>
            <a:endParaRPr lang="en-US" sz="2400" dirty="0"/>
          </a:p>
        </p:txBody>
      </p:sp>
      <p:sp>
        <p:nvSpPr>
          <p:cNvPr id="3" name="circulo-ferramenta-366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367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368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Retificadora (retífica) elétrica ou pneumática de alta rotação, usada com pontas montadas e fresas.</a:t>
            </a:r>
            <a:endParaRPr lang="en-US" sz="1400" dirty="0"/>
          </a:p>
        </p:txBody>
      </p:sp>
      <p:sp>
        <p:nvSpPr>
          <p:cNvPr id="6" name="cartao-369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370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371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372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Quebra de pontas montadas em alta rotação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Projeção de partículas e cavacos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Enroscamento em partes giratórias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Queimaduras por pontas aquecidas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Ruído, vibração e falhas de mangueira (pneumática)</a:t>
            </a:r>
            <a:endParaRPr lang="en-US" sz="1400" dirty="0"/>
          </a:p>
        </p:txBody>
      </p:sp>
      <p:sp>
        <p:nvSpPr>
          <p:cNvPr id="10" name="cartao-373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374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375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376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 + protetor facial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Luvas adequadas, sem partes soltas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Respirador PFF2 conforme o material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RETIFICADORA – OPERAÇÃO SEGURA</a:t>
            </a:r>
            <a:endParaRPr lang="en-US" sz="2400" dirty="0"/>
          </a:p>
        </p:txBody>
      </p:sp>
      <p:sp>
        <p:nvSpPr>
          <p:cNvPr id="3" name="cartao-377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378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379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380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Confira se a rotação máxima da ponta é maior ou igual à da máquina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Respeite o comprimento de haste indicado pelo fabricante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Aperte a pinça com as chaves corretas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Na pneumática: inspecione mangueira, engate e pressão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Desligue da energia ou do ar antes de trocar a ponta</a:t>
            </a:r>
            <a:endParaRPr lang="en-US" sz="1400" dirty="0"/>
          </a:p>
        </p:txBody>
      </p:sp>
      <p:sp>
        <p:nvSpPr>
          <p:cNvPr id="7" name="cartao-381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382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383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384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ponta com haste empenada ou trincada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Deixar a haste muito exposta além da pinça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ar comprimido para limpar o corpo ou a roupa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Tocar a ponta logo após o uso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Apoiar a ferramenta ainda girando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SERRA TICO-TICO – RISCOS E EPI</a:t>
            </a:r>
            <a:endParaRPr lang="en-US" sz="2400" dirty="0"/>
          </a:p>
        </p:txBody>
      </p:sp>
      <p:sp>
        <p:nvSpPr>
          <p:cNvPr id="3" name="circulo-ferramenta-385"/>
          <p:cNvSpPr/>
          <p:nvPr/>
        </p:nvSpPr>
        <p:spPr>
          <a:xfrm>
            <a:off x="457200" y="1051560"/>
            <a:ext cx="1371600" cy="1371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</p:sp>
      <p:pic>
        <p:nvPicPr>
          <p:cNvPr id="4" name="icone-386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731520" cy="731520"/>
          </a:xfrm>
          <a:prstGeom prst="rect">
            <a:avLst/>
          </a:prstGeom>
        </p:spPr>
      </p:pic>
      <p:sp>
        <p:nvSpPr>
          <p:cNvPr id="5" name="texto-387"/>
          <p:cNvSpPr txBox="1"/>
          <p:nvPr/>
        </p:nvSpPr>
        <p:spPr>
          <a:xfrm>
            <a:off x="457200" y="265176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Serra de lâmina alternativa para cortes retos e curvos em madeira, metal e plástico.</a:t>
            </a:r>
            <a:endParaRPr lang="en-US" sz="1400" dirty="0"/>
          </a:p>
        </p:txBody>
      </p:sp>
      <p:sp>
        <p:nvSpPr>
          <p:cNvPr id="6" name="cartao-388"/>
          <p:cNvSpPr/>
          <p:nvPr/>
        </p:nvSpPr>
        <p:spPr>
          <a:xfrm>
            <a:off x="2697480" y="1005840"/>
            <a:ext cx="3063240" cy="356616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7" name="icone-389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143000"/>
            <a:ext cx="384048" cy="384048"/>
          </a:xfrm>
          <a:prstGeom prst="rect">
            <a:avLst/>
          </a:prstGeom>
        </p:spPr>
      </p:pic>
      <p:sp>
        <p:nvSpPr>
          <p:cNvPr id="8" name="cartao-titulo-390"/>
          <p:cNvSpPr txBox="1"/>
          <p:nvPr/>
        </p:nvSpPr>
        <p:spPr>
          <a:xfrm>
            <a:off x="338328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Principais riscos</a:t>
            </a:r>
            <a:endParaRPr lang="en-US" sz="1800" dirty="0"/>
          </a:p>
        </p:txBody>
      </p:sp>
      <p:sp>
        <p:nvSpPr>
          <p:cNvPr id="9" name="texto-391"/>
          <p:cNvSpPr txBox="1"/>
          <p:nvPr/>
        </p:nvSpPr>
        <p:spPr>
          <a:xfrm>
            <a:off x="2880360" y="1691640"/>
            <a:ext cx="26974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Contato com a lâmina, inclusive abaixo da peça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Quebra da lâmina e projeção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Corte de fiação ou tubulação oculta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Poeira, ruído e vibração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Choque elétrico</a:t>
            </a:r>
            <a:endParaRPr lang="en-US" sz="1400" dirty="0"/>
          </a:p>
        </p:txBody>
      </p:sp>
      <p:sp>
        <p:nvSpPr>
          <p:cNvPr id="10" name="cartao-392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1" name="icone-393" descr="Íc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384048" cy="384048"/>
          </a:xfrm>
          <a:prstGeom prst="rect">
            <a:avLst/>
          </a:prstGeom>
        </p:spPr>
      </p:pic>
      <p:sp>
        <p:nvSpPr>
          <p:cNvPr id="12" name="cartao-titulo-394"/>
          <p:cNvSpPr txBox="1"/>
          <p:nvPr/>
        </p:nvSpPr>
        <p:spPr>
          <a:xfrm>
            <a:off x="6629400" y="11430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EPI</a:t>
            </a:r>
            <a:endParaRPr lang="en-US" sz="1800" dirty="0"/>
          </a:p>
        </p:txBody>
      </p:sp>
      <p:sp>
        <p:nvSpPr>
          <p:cNvPr id="13" name="texto-395"/>
          <p:cNvSpPr txBox="1"/>
          <p:nvPr/>
        </p:nvSpPr>
        <p:spPr>
          <a:xfrm>
            <a:off x="6126480" y="169164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Óculos de proteção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Protetor auricular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Respirador PFF2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Calçado de segurança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Vestimenta justa, sem adornos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SERRA TICO-TICO – OPERAÇÃO SEGURA</a:t>
            </a:r>
            <a:endParaRPr lang="en-US" sz="2400" dirty="0"/>
          </a:p>
        </p:txBody>
      </p:sp>
      <p:sp>
        <p:nvSpPr>
          <p:cNvPr id="3" name="cartao-396"/>
          <p:cNvSpPr/>
          <p:nvPr/>
        </p:nvSpPr>
        <p:spPr>
          <a:xfrm>
            <a:off x="45720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pic>
        <p:nvPicPr>
          <p:cNvPr id="4" name="icone-397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411480" cy="411480"/>
          </a:xfrm>
          <a:prstGeom prst="rect">
            <a:avLst/>
          </a:prstGeom>
        </p:spPr>
      </p:pic>
      <p:sp>
        <p:nvSpPr>
          <p:cNvPr id="5" name="cartao-titulo-398"/>
          <p:cNvSpPr txBox="1"/>
          <p:nvPr/>
        </p:nvSpPr>
        <p:spPr>
          <a:xfrm>
            <a:off x="118872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Faça sempre</a:t>
            </a:r>
            <a:endParaRPr lang="en-US" sz="1800" dirty="0"/>
          </a:p>
        </p:txBody>
      </p:sp>
      <p:sp>
        <p:nvSpPr>
          <p:cNvPr id="6" name="texto-399"/>
          <p:cNvSpPr txBox="1"/>
          <p:nvPr/>
        </p:nvSpPr>
        <p:spPr>
          <a:xfrm>
            <a:off x="64008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 lâmina adequada ao material e à espessura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Mantenha a base (sapata) apoiada na peça durante todo o corte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Prenda a peça e verifique o que há embaixo dela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Retire da tomada para trocar a lâmina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Aguarde a parada da lâmina antes de retirá-la do corte</a:t>
            </a:r>
            <a:endParaRPr lang="en-US" sz="1400" dirty="0"/>
          </a:p>
        </p:txBody>
      </p:sp>
      <p:sp>
        <p:nvSpPr>
          <p:cNvPr id="7" name="cartao-400"/>
          <p:cNvSpPr/>
          <p:nvPr/>
        </p:nvSpPr>
        <p:spPr>
          <a:xfrm>
            <a:off x="4709160" y="1005840"/>
            <a:ext cx="3977640" cy="3566160"/>
          </a:xfrm>
          <a:prstGeom prst="roundRect">
            <a:avLst>
              <a:gd name="adj" fmla="val 256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e-401" descr="Íc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9" name="cartao-titulo-402"/>
          <p:cNvSpPr txBox="1"/>
          <p:nvPr/>
        </p:nvSpPr>
        <p:spPr>
          <a:xfrm>
            <a:off x="5440680" y="1143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Nunca faça</a:t>
            </a:r>
            <a:endParaRPr lang="en-US" sz="1800" dirty="0"/>
          </a:p>
        </p:txBody>
      </p:sp>
      <p:sp>
        <p:nvSpPr>
          <p:cNvPr id="10" name="texto-403"/>
          <p:cNvSpPr txBox="1"/>
          <p:nvPr/>
        </p:nvSpPr>
        <p:spPr>
          <a:xfrm>
            <a:off x="489204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Colocar a mão sob a peça durante o corte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Iniciar o corte com a lâmina encostada na peça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Forçar curvas fechadas com lâmina inadequada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Usar lâmina cega ou empenada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Cortar sem verificar fios e canos ocultos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-404"/>
          <p:cNvSpPr/>
          <p:nvPr/>
        </p:nvSpPr>
        <p:spPr>
          <a:xfrm>
            <a:off x="2926080" y="320040"/>
            <a:ext cx="3291840" cy="329184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accent2"/>
            </a:solidFill>
            <a:prstDash val="solid"/>
          </a:ln>
        </p:spPr>
      </p:sp>
      <p:pic>
        <p:nvPicPr>
          <p:cNvPr id="3" name="imagem-405" descr="Logo Lima Treinamen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6509" y="502920"/>
            <a:ext cx="2830982" cy="2926080"/>
          </a:xfrm>
          <a:prstGeom prst="rect">
            <a:avLst/>
          </a:prstGeom>
        </p:spPr>
      </p:pic>
      <p:sp>
        <p:nvSpPr>
          <p:cNvPr id="4" name="agradecimento"/>
          <p:cNvSpPr txBox="1"/>
          <p:nvPr/>
        </p:nvSpPr>
        <p:spPr>
          <a:xfrm>
            <a:off x="91440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Obrigado!</a:t>
            </a:r>
            <a:endParaRPr lang="en-US" sz="2800" dirty="0"/>
          </a:p>
        </p:txBody>
      </p:sp>
      <p:sp>
        <p:nvSpPr>
          <p:cNvPr id="5" name="contatos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Site: [preencher]   ·   Contatos: [preencher]   ·   E-mail: [preencher]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ma Treinamentos">
  <a:themeElements>
    <a:clrScheme name="Lima Treinamentos">
      <a:dk1>
        <a:srgbClr val="1F1A17"/>
      </a:dk1>
      <a:lt1>
        <a:srgbClr val="FFFFFF"/>
      </a:lt1>
      <a:dk2>
        <a:srgbClr val="7A0E12"/>
      </a:dk2>
      <a:lt2>
        <a:srgbClr val="FBF1E0"/>
      </a:lt2>
      <a:accent1>
        <a:srgbClr val="C8161D"/>
      </a:accent1>
      <a:accent2>
        <a:srgbClr val="F2A900"/>
      </a:accent2>
      <a:accent3>
        <a:srgbClr val="2E7D32"/>
      </a:accent3>
      <a:accent4>
        <a:srgbClr val="E86A10"/>
      </a:accent4>
      <a:accent5>
        <a:srgbClr val="5F5A55"/>
      </a:accent5>
      <a:accent6>
        <a:srgbClr val="B3261E"/>
      </a:accent6>
      <a:hlink>
        <a:srgbClr val="C8161D"/>
      </a:hlink>
      <a:folHlink>
        <a:srgbClr val="7A0E12"/>
      </a:folHlink>
    </a:clrScheme>
    <a:fontScheme name="Lima Treinamentos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Lima Treinamentos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NR-12 Anexo V - Motosserras e ferramentas portáteis</dc:title>
  <dc:subject>PptxGenJS Presentation</dc:subject>
  <dc:creator>Lima Treinamentos</dc:creator>
  <cp:lastModifiedBy>Lima Treinamentos</cp:lastModifiedBy>
  <cp:revision>1</cp:revision>
  <dcterms:created xsi:type="dcterms:W3CDTF">2026-10-15T19:37:46Z</dcterms:created>
  <dcterms:modified xsi:type="dcterms:W3CDTF">2026-10-15T19:37:46Z</dcterms:modified>
</cp:coreProperties>
</file>